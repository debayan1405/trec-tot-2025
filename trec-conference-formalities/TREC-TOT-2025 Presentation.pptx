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IBM Plex Sans"/>
      <p:regular r:id="rId42"/>
      <p:bold r:id="rId43"/>
      <p:italic r:id="rId44"/>
      <p:boldItalic r:id="rId45"/>
    </p:embeddedFont>
    <p:embeddedFont>
      <p:font typeface="Robot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IBMPlexSans-regular.fntdata"/><Relationship Id="rId41" Type="http://schemas.openxmlformats.org/officeDocument/2006/relationships/slide" Target="slides/slide36.xml"/><Relationship Id="rId44" Type="http://schemas.openxmlformats.org/officeDocument/2006/relationships/font" Target="fonts/IBMPlexSans-italic.fntdata"/><Relationship Id="rId43" Type="http://schemas.openxmlformats.org/officeDocument/2006/relationships/font" Target="fonts/IBMPlexSans-bold.fntdata"/><Relationship Id="rId46" Type="http://schemas.openxmlformats.org/officeDocument/2006/relationships/font" Target="fonts/Roboto-regular.fntdata"/><Relationship Id="rId45" Type="http://schemas.openxmlformats.org/officeDocument/2006/relationships/font" Target="fonts/IBMPlex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fd12e2b51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fd12e2b51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fd12e2b51_8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fd12e2b51_8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fd12e2b51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fd12e2b51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fd12e2b51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afd12e2b51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didn't start with the final architecture. We started with this: Pipeline V1. Our initial hypothesis was that 'more is better.' We built a heavy, 5-stage pipeline utilizing LightGBM, multiple dense retrievers, and complex Z-score normalization. We thought that by fusing every possible signal—BM25, DPH, MPNet—we could brute-force our way to high performance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fd12e2b51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afd12e2b51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the results were a reality check. Despite having five stages and a Learning-to-Rank model, the system failed. We achieved a Success@10 of only 10%—meaning 90% of the time, the user got nothing useful. The nDCG was near zero. This taught us a crucial lesson: complexity does not equal performance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fd12e2b51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fd12e2b51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did it fail? Two reasons. First, 'Signal Dilution'—by averaging so many models, we drowned out the few that were actually working. Second, and most importantly, our Recall was only 0.32. We were losing the relevant documents before the rerankers even saw them. We realized we didn't need a better ranking algorithm (LightGBM); we needed better queries. This led us to pivot entirely to the Reformulation-First architecture we are presenting today.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faac0ee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faac0ee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start by establishing the baseline. As you can see, even a robust BM25 implementation struggles here. The noise in Tip-of-the-Tongue queries drowns out the signal, leading to poor nDCG and Recall.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charts proves that ranking isn't our problem yet, understanding is. If we don't fix the input with reformulation, the rest of the pipeline is just processing garbage.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faac0ee5d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faac0ee5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faac0ee5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faac0ee5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flowchart illustrates our proposed reformulation strategy. It outlines the step-by-step logic we use to disentangle the user's intent from the noisy description before passing it to the retrieval system</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faac0ee5d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faac0ee5d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faac0ee5d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afaac0ee5d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didn't want to rely on just one reformulation. We hypothesized that combining perspectives might be stronger. So, we used Llama-3.1 to act as a 'judge' or 'summarizer.' It looks at the three variations, keeps the keywords that appear consistently, and discards the outliers or hallucinations, giving us one 'gold standard' reformulated query.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faac0ee5d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faac0ee5d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faac0ee5d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faac0ee5d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looking at nDCG@10, we see a massive jump in ranking quality immediately after reformulation. But perhaps more importantly for a multi-stage pipeline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faac0ee5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faac0ee5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a:t>
            </a:r>
            <a:r>
              <a:rPr lang="en">
                <a:solidFill>
                  <a:schemeClr val="dk1"/>
                </a:solidFill>
              </a:rPr>
              <a:t>ur Recall@1000 also spikes. This proves that without reformulation, we aren't just ranking poorly—we are completely missing the relevant documents. This step is non-negotiable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faac0ee5d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faac0ee5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faac0ee5d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faac0ee5d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faac0ee5d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faac0ee5d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visualizes the architectural flow. We start with 'Cheap Recall' using BM25 and PL2 to reduce the search space. We then move to Dense Bi-encoders to catch semantic nuances, refine that list with a Cross-Encoder for precision, and finally use an LLM for the 'last mile' optimization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faac0ee5d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faac0ee5d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our 'cheap recall' net, we used two probabilistic models: BM25 and PL2. Instead of a simple grid search on one dataset, we implemented a 'Sequential Adaptive' strategy. We tune on Train, carry those parameters to Dev1 to refine them, and then refine again on Dev2. This ensures our parameters are robust and not just overfitted to one specific set of queries.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faac0ee5d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faac0ee5d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are the results of our adaptive tuning. You can see that Mistral consistently provides the strongest signal. A key point to note: even though we optimized for nDCG@10, we found this effectively optimized Recall@1000 as well. By forcing the model to rank relevant documents at the top, we essentially forced it to maximize its understanding of the query, which naturally pulled more relevant documents into the candidate pool.</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faac0ee5d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afaac0ee5d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faac0ee5d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afaac0ee5d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initially planned to fuse BM25 and PL2 results using RRF to cast the widest possible net. However, the data showed that BM25 and PL2 were retrieving almost the exact same documents—the overlap was over 90%. Running both gave us virtually no recall gain but doubled our cost. So, we made the engineering decision to drop RRF and PL2, moving forward with just BM25. This cut our Stage 1 latency in half with zero penalty to performance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faac0ee5d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faac0ee5d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Moving to Stage 2, we tackle the vocabulary mismatch. Sparse retrieval finds exact words, but Dense retrieval finds 'meanings'. We didn't rely on just one model. We built an ensemble: ColBERT for fine details, Contriever for zero-shot robustness, and E5 for general semantic matching. We run them in parallel and fuse the results using RRF. This gives us the best of all worlds.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afaac0ee5d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afaac0ee5d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critical design choice was deciding how many documents to keep. If we keep too few, we lose the answer. If we keep too many, we overwhelm the next stage. We used a 'Robust Aggregate' tuning strategy. We didn't just pick the depth with the highest average recall; we penalized depths that had high variance across our datasets. This ensures that the pipeline remains stable regardless of the data split.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afd12e2b51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afd12e2b51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we tuned the depth, we found something interesting. Increasing the number of documents passed to the dense stage from 1,000 to 5,000 gave us zero lift. This confirms a 'Recall Ceiling': the Dense stage can't invent recall; it is limited by what the Sparse stage found. Since the Sparse stage saturated at 1,000, we capped the Dense stage there too. Going deeper would just be burning compute for free.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fd12e2b51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afd12e2b51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the trade-off. After the Dense stage, our ranking score (nDCG) actually dropped by 18%. Why? Because the Dense models didn't like the keyword-heavy queries that Mistral wrote for BM25. However, look at the Recall—it stayed exactly the same. We didn't lose the documents; they just got shuffled down. We decided to accept this drop because we know the next stage, the Cross-Encoder, is a precision expert designed to fix exactly this kind of ranking error.</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afaac0ee5d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afaac0ee5d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Stage 3, we bring out the heavy guns. To fix the ranking errors from the previous stage, we used monoT5. But the smart part was how we fed it data. We used a 'Hybrid Input' strategy. We took the top 100 results from our keyword search (BM25) and the top 100 from our semantic search (Dense), and merged them. This guarantees that monoT5 sees the best of both worlds before it starts re-ranking.</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fd12e2b51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afd12e2b51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call this the 'Phoenix' moment of the pipeline. As you can see the Cross-Encoder didn't just fix the damage from the previous stage; it pushed us to new heights. Our Success@10 jumped significantly. We did lose some total recall at the very bottom of the list, but that's a trade we willingly made. We sacrificed irrelevant documents at rank 300 to ensure the documents at rank 1 are perfect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afd12e2b51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afd12e2b51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Since Cross-Encoders are slow, we had to be efficient. We tested how deep we needed to re-rank. Surprisingly, going deeper than 50 candidates actually hurt performance, it just introduced noise. So, we set the cutoff at 50. This keeps the pipeline fast and ensures the final stage only receives the absolute highest-quality candidates.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afaac0ee5d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afaac0ee5d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the final mile, we used Qwen2.5-72B. Instead of scoring documents one by one, we show the model the whole list and ask it to re-order them. We intentionally truncate documents to the first 500 characters. This isn't just to save money—it avoids the 'Lost in the Middle' problem. In Wikipedia articles, the key plot points matching a 'Tip-of-the-Tongue' query are almost always in the introduction. Feeding the full text just confuses the model with irrelevant details.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afd12e2b51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afd12e2b51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ran a joint tuning sweep to see how many documents the LLM actually needs to see. The data showed that performance flatlines after just 30 documents. Sending more than 30 candidates didn't help, it actually hurt by introducing noise. So, we locked the input window to 30 and the output to 10. This creates a highly efficient final stage.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afd12e2b51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afd12e2b51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the most interesting finding. On our blind test set, performance skyrocketed—MRR went up nearly 30%. But on our training set, performance actually dropped. Why? Because the earlier stages were overfitted to the training data. The LLM, which has zero knowledge of our training set, ignored those overfitted patterns and ranked based on pure world knowledge. It acted as a 'correction layer,' sacrificing artificial training gains for genuine, real-world generalization.</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afd12e2b51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afd12e2b51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ran our final validation on a completely held-out test set. This was our hardest dataset yet—full of ambiguous, difficult queries. Despite the difficulty, the results were definitive. As you can see in the table, our final nDCG nearly doubled the baseline performance, achieving a 113% gain. This proves that for Tip-of-the-Tongue queries, a simple search engine isn't enough. You need the full cascade.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afd12e2b51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afd12e2b51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final slide summarizes our entire journey. We started with Pipeline V1—a complex, feature-heavy system that failed, giving us only 10% success. We pivoted to Pipeline V2, prioritizing Reformulation and deep semantic interaction. The result is not just an incremental improvement; it is a transformation. We increased our ranking quality by over 400% and nearly quadrupled the success rate. This proves that in the Tip-of-the-Tongue domain, you cannot just engineer better features; you must engineer better intent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af67cfa81c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af67cfa81c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conclude, this chart tells the whole story. We started with noise. Reformulation gave us signal. Sparse and Dense retrieval gave us coverage. The Cross-Encoder recovered our precision, and the LLM gave us the final push to State-of-the-Art performance. Thank you.</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afd12e2b51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afd12e2b51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descr="why removed the other authors? Also, the color should be blue-shaded (see the other slides to get the color theme)" id="67" name="Google Shape;67;p13"/>
          <p:cNvPicPr preferRelativeResize="0"/>
          <p:nvPr/>
        </p:nvPicPr>
        <p:blipFill>
          <a:blip r:embed="rId3">
            <a:alphaModFix/>
          </a:blip>
          <a:stretch>
            <a:fillRect/>
          </a:stretch>
        </p:blipFill>
        <p:spPr>
          <a:xfrm>
            <a:off x="-6193" y="15719"/>
            <a:ext cx="9144000" cy="5089918"/>
          </a:xfrm>
          <a:prstGeom prst="rect">
            <a:avLst/>
          </a:prstGeom>
          <a:noFill/>
          <a:ln>
            <a:noFill/>
          </a:ln>
        </p:spPr>
      </p:pic>
      <p:sp>
        <p:nvSpPr>
          <p:cNvPr id="68" name="Google Shape;68;p13"/>
          <p:cNvSpPr/>
          <p:nvPr/>
        </p:nvSpPr>
        <p:spPr>
          <a:xfrm>
            <a:off x="3276075" y="4346625"/>
            <a:ext cx="2593800" cy="227100"/>
          </a:xfrm>
          <a:prstGeom prst="rect">
            <a:avLst/>
          </a:prstGeom>
          <a:solidFill>
            <a:srgbClr val="F9F9F9"/>
          </a:solidFill>
          <a:ln cap="flat" cmpd="sng" w="9525">
            <a:solidFill>
              <a:srgbClr val="FAFA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pic>
        <p:nvPicPr>
          <p:cNvPr id="69" name="Google Shape;69;p13" title="Screenshot 2025-12-11 at 6.20.09 PM.png"/>
          <p:cNvPicPr preferRelativeResize="0"/>
          <p:nvPr/>
        </p:nvPicPr>
        <p:blipFill>
          <a:blip r:embed="rId4">
            <a:alphaModFix/>
          </a:blip>
          <a:stretch>
            <a:fillRect/>
          </a:stretch>
        </p:blipFill>
        <p:spPr>
          <a:xfrm>
            <a:off x="3675900" y="4318250"/>
            <a:ext cx="1702550" cy="260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descr="the font should be Roboto 12." id="74" name="Google Shape;74;p14"/>
          <p:cNvPicPr preferRelativeResize="0"/>
          <p:nvPr/>
        </p:nvPicPr>
        <p:blipFill>
          <a:blip r:embed="rId3">
            <a:alphaModFix/>
          </a:blip>
          <a:stretch>
            <a:fillRect/>
          </a:stretch>
        </p:blipFill>
        <p:spPr>
          <a:xfrm>
            <a:off x="-121385" y="0"/>
            <a:ext cx="9265385" cy="5157500"/>
          </a:xfrm>
          <a:prstGeom prst="rect">
            <a:avLst/>
          </a:prstGeom>
          <a:noFill/>
          <a:ln>
            <a:noFill/>
          </a:ln>
        </p:spPr>
      </p:pic>
      <p:sp>
        <p:nvSpPr>
          <p:cNvPr id="75" name="Google Shape;75;p14"/>
          <p:cNvSpPr/>
          <p:nvPr/>
        </p:nvSpPr>
        <p:spPr>
          <a:xfrm>
            <a:off x="-130500" y="908675"/>
            <a:ext cx="9274500" cy="4235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76" name="Google Shape;76;p14"/>
          <p:cNvSpPr txBox="1"/>
          <p:nvPr/>
        </p:nvSpPr>
        <p:spPr>
          <a:xfrm>
            <a:off x="-112950" y="908675"/>
            <a:ext cx="9274500" cy="47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 sz="1800">
                <a:latin typeface="Roboto"/>
                <a:ea typeface="Roboto"/>
                <a:cs typeface="Roboto"/>
                <a:sym typeface="Roboto"/>
              </a:rPr>
              <a:t>Tip-of-the-Tongue (ToT) retrieval addresses the challenge of finding information from fragmented, distorted, or incomplete memories.</a:t>
            </a:r>
            <a:endParaRPr sz="1800">
              <a:latin typeface="Roboto"/>
              <a:ea typeface="Roboto"/>
              <a:cs typeface="Roboto"/>
              <a:sym typeface="Roboto"/>
            </a:endParaRPr>
          </a:p>
          <a:p>
            <a:pPr indent="0" lvl="0" marL="457200" rtl="0" algn="l">
              <a:spcBef>
                <a:spcPts val="0"/>
              </a:spcBef>
              <a:spcAft>
                <a:spcPts val="0"/>
              </a:spcAft>
              <a:buNone/>
            </a:pPr>
            <a:r>
              <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 sz="1800">
                <a:latin typeface="Roboto"/>
                <a:ea typeface="Roboto"/>
                <a:cs typeface="Roboto"/>
                <a:sym typeface="Roboto"/>
              </a:rPr>
              <a:t>A fundamental disconnect exists between a user's internal, often verbose and uncertain, description and the external identifiers needed to locate an item.</a:t>
            </a:r>
            <a:endParaRPr sz="1800">
              <a:latin typeface="Roboto"/>
              <a:ea typeface="Roboto"/>
              <a:cs typeface="Roboto"/>
              <a:sym typeface="Roboto"/>
            </a:endParaRPr>
          </a:p>
          <a:p>
            <a:pPr indent="0" lvl="0" marL="457200" rtl="0" algn="l">
              <a:spcBef>
                <a:spcPts val="0"/>
              </a:spcBef>
              <a:spcAft>
                <a:spcPts val="0"/>
              </a:spcAft>
              <a:buNone/>
            </a:pPr>
            <a:r>
              <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 sz="1800">
                <a:latin typeface="Roboto"/>
                <a:ea typeface="Roboto"/>
                <a:cs typeface="Roboto"/>
                <a:sym typeface="Roboto"/>
              </a:rPr>
              <a:t>Traditional semantic similarity and even advanced LLMs often fail on difficult ToT queries due to uncertainty and the risk of hallucination.</a:t>
            </a:r>
            <a:endParaRPr sz="1800">
              <a:latin typeface="Roboto"/>
              <a:ea typeface="Roboto"/>
              <a:cs typeface="Roboto"/>
              <a:sym typeface="Roboto"/>
            </a:endParaRPr>
          </a:p>
          <a:p>
            <a:pPr indent="0" lvl="0" marL="457200" rtl="0" algn="l">
              <a:spcBef>
                <a:spcPts val="0"/>
              </a:spcBef>
              <a:spcAft>
                <a:spcPts val="0"/>
              </a:spcAft>
              <a:buNone/>
            </a:pPr>
            <a:r>
              <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 sz="1800">
                <a:latin typeface="Roboto"/>
                <a:ea typeface="Roboto"/>
                <a:cs typeface="Roboto"/>
                <a:sym typeface="Roboto"/>
              </a:rPr>
              <a:t>The field is evolving from simple pattern matching to agentic reasoning, where systems must deduce and reconstruct memories, not just rank documents.</a:t>
            </a:r>
            <a:endParaRPr sz="1800">
              <a:latin typeface="Roboto"/>
              <a:ea typeface="Roboto"/>
              <a:cs typeface="Roboto"/>
              <a:sym typeface="Roboto"/>
            </a:endParaRPr>
          </a:p>
          <a:p>
            <a:pPr indent="0" lvl="0" marL="457200" rtl="0" algn="l">
              <a:spcBef>
                <a:spcPts val="0"/>
              </a:spcBef>
              <a:spcAft>
                <a:spcPts val="0"/>
              </a:spcAft>
              <a:buNone/>
            </a:pPr>
            <a:r>
              <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 sz="1800">
                <a:latin typeface="Roboto"/>
                <a:ea typeface="Roboto"/>
                <a:cs typeface="Roboto"/>
                <a:sym typeface="Roboto"/>
              </a:rPr>
              <a:t>This persistent problem causes significant user frustration and cognitive load, as evidenced by millions of unresolved queries in online communities like Reddit.</a:t>
            </a:r>
            <a:endParaRPr sz="1800">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ctrTitle"/>
          </p:nvPr>
        </p:nvSpPr>
        <p:spPr>
          <a:xfrm>
            <a:off x="390525" y="1129275"/>
            <a:ext cx="8222100" cy="162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t>Original Methodology and Analysis</a:t>
            </a:r>
            <a:endParaRPr b="1"/>
          </a:p>
        </p:txBody>
      </p:sp>
      <p:sp>
        <p:nvSpPr>
          <p:cNvPr id="82" name="Google Shape;82;p15"/>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n"/>
              <a:t>As submitted for auto-evaluation on EvalBase before the TREC-TOT 2025 deadline on September 10, 2025 (AOE)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212375" y="1816150"/>
            <a:ext cx="2808000" cy="120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b="1" lang="en" sz="2060"/>
              <a:t>The Initial Hypothesis (Pipeline V1): Complexity &amp; Fusion</a:t>
            </a:r>
            <a:endParaRPr b="1" sz="2060"/>
          </a:p>
        </p:txBody>
      </p:sp>
      <p:sp>
        <p:nvSpPr>
          <p:cNvPr id="88" name="Google Shape;88;p16"/>
          <p:cNvSpPr txBox="1"/>
          <p:nvPr>
            <p:ph idx="1" type="body"/>
          </p:nvPr>
        </p:nvSpPr>
        <p:spPr>
          <a:xfrm>
            <a:off x="3668800" y="237750"/>
            <a:ext cx="4862700" cy="460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Architecture:</a:t>
            </a:r>
            <a:r>
              <a:rPr lang="en">
                <a:solidFill>
                  <a:srgbClr val="000000"/>
                </a:solidFill>
              </a:rPr>
              <a:t> A complex, 5-stage hierarchical pipeline designed to maximize signal through aggressive fusion.</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rPr b="1" lang="en">
                <a:solidFill>
                  <a:srgbClr val="000000"/>
                </a:solidFill>
              </a:rPr>
              <a:t>The Workflow:</a:t>
            </a:r>
            <a:endParaRPr b="1">
              <a:solidFill>
                <a:srgbClr val="000000"/>
              </a:solidFill>
            </a:endParaRPr>
          </a:p>
          <a:p>
            <a:pPr indent="-304800" lvl="0" marL="457200" rtl="0" algn="l">
              <a:spcBef>
                <a:spcPts val="0"/>
              </a:spcBef>
              <a:spcAft>
                <a:spcPts val="0"/>
              </a:spcAft>
              <a:buClr>
                <a:srgbClr val="000000"/>
              </a:buClr>
              <a:buSzPts val="1200"/>
              <a:buFont typeface="Arial"/>
              <a:buChar char="●"/>
            </a:pPr>
            <a:r>
              <a:rPr b="1" lang="en">
                <a:solidFill>
                  <a:srgbClr val="000000"/>
                </a:solidFill>
              </a:rPr>
              <a:t>Stage 1 (Sparse):</a:t>
            </a:r>
            <a:r>
              <a:rPr lang="en">
                <a:solidFill>
                  <a:srgbClr val="000000"/>
                </a:solidFill>
              </a:rPr>
              <a:t> Parallel retrieval using BM25, DPH, and TF-IDF on LLaMA-rewritten queries.</a:t>
            </a:r>
            <a:endParaRPr>
              <a:solidFill>
                <a:srgbClr val="000000"/>
              </a:solidFill>
            </a:endParaRPr>
          </a:p>
          <a:p>
            <a:pPr indent="-304800" lvl="0" marL="457200" rtl="0" algn="l">
              <a:spcBef>
                <a:spcPts val="0"/>
              </a:spcBef>
              <a:spcAft>
                <a:spcPts val="0"/>
              </a:spcAft>
              <a:buClr>
                <a:srgbClr val="000000"/>
              </a:buClr>
              <a:buSzPts val="1200"/>
              <a:buFont typeface="Arial"/>
              <a:buChar char="●"/>
            </a:pPr>
            <a:r>
              <a:rPr b="1" lang="en">
                <a:solidFill>
                  <a:srgbClr val="000000"/>
                </a:solidFill>
              </a:rPr>
              <a:t>Stage 2 (Fusion):</a:t>
            </a:r>
            <a:r>
              <a:rPr lang="en">
                <a:solidFill>
                  <a:srgbClr val="000000"/>
                </a:solidFill>
              </a:rPr>
              <a:t> Reciprocal Rank Fusion (k=60) to merge the three sparse lists.</a:t>
            </a:r>
            <a:endParaRPr>
              <a:solidFill>
                <a:srgbClr val="000000"/>
              </a:solidFill>
            </a:endParaRPr>
          </a:p>
          <a:p>
            <a:pPr indent="-304800" lvl="0" marL="457200" rtl="0" algn="l">
              <a:spcBef>
                <a:spcPts val="0"/>
              </a:spcBef>
              <a:spcAft>
                <a:spcPts val="0"/>
              </a:spcAft>
              <a:buClr>
                <a:srgbClr val="000000"/>
              </a:buClr>
              <a:buSzPts val="1200"/>
              <a:buFont typeface="Arial"/>
              <a:buChar char="●"/>
            </a:pPr>
            <a:r>
              <a:rPr b="1" lang="en">
                <a:solidFill>
                  <a:srgbClr val="000000"/>
                </a:solidFill>
              </a:rPr>
              <a:t>Stage 3 (Dense):</a:t>
            </a:r>
            <a:r>
              <a:rPr lang="en">
                <a:solidFill>
                  <a:srgbClr val="000000"/>
                </a:solidFill>
              </a:rPr>
              <a:t> 3-model ensemble (MiniLM, MPNet, Multi-QA) using weighted fusion (70% Semantic / 30% Sparse).</a:t>
            </a:r>
            <a:endParaRPr>
              <a:solidFill>
                <a:srgbClr val="000000"/>
              </a:solidFill>
            </a:endParaRPr>
          </a:p>
          <a:p>
            <a:pPr indent="-304800" lvl="0" marL="457200" rtl="0" algn="l">
              <a:spcBef>
                <a:spcPts val="0"/>
              </a:spcBef>
              <a:spcAft>
                <a:spcPts val="0"/>
              </a:spcAft>
              <a:buClr>
                <a:srgbClr val="000000"/>
              </a:buClr>
              <a:buSzPts val="1200"/>
              <a:buFont typeface="Arial"/>
              <a:buChar char="●"/>
            </a:pPr>
            <a:r>
              <a:rPr b="1" lang="en">
                <a:solidFill>
                  <a:srgbClr val="000000"/>
                </a:solidFill>
              </a:rPr>
              <a:t>Stage 4 (LTR):</a:t>
            </a:r>
            <a:r>
              <a:rPr lang="en">
                <a:solidFill>
                  <a:srgbClr val="000000"/>
                </a:solidFill>
              </a:rPr>
              <a:t> </a:t>
            </a:r>
            <a:r>
              <a:rPr b="1" lang="en">
                <a:solidFill>
                  <a:srgbClr val="000000"/>
                </a:solidFill>
              </a:rPr>
              <a:t>LightGBM Learning-to-Rank</a:t>
            </a:r>
            <a:r>
              <a:rPr lang="en">
                <a:solidFill>
                  <a:srgbClr val="000000"/>
                </a:solidFill>
              </a:rPr>
              <a:t> model trained on a 6-dimensional feature vector (sparse + dense scores).</a:t>
            </a:r>
            <a:endParaRPr>
              <a:solidFill>
                <a:srgbClr val="000000"/>
              </a:solidFill>
            </a:endParaRPr>
          </a:p>
          <a:p>
            <a:pPr indent="-304800" lvl="0" marL="457200" rtl="0" algn="l">
              <a:spcBef>
                <a:spcPts val="0"/>
              </a:spcBef>
              <a:spcAft>
                <a:spcPts val="0"/>
              </a:spcAft>
              <a:buClr>
                <a:srgbClr val="000000"/>
              </a:buClr>
              <a:buSzPts val="1200"/>
              <a:buFont typeface="Arial"/>
              <a:buChar char="●"/>
            </a:pPr>
            <a:r>
              <a:rPr b="1" lang="en">
                <a:solidFill>
                  <a:srgbClr val="000000"/>
                </a:solidFill>
              </a:rPr>
              <a:t>Stage 5 (Reranking):</a:t>
            </a:r>
            <a:r>
              <a:rPr lang="en">
                <a:solidFill>
                  <a:srgbClr val="000000"/>
                </a:solidFill>
              </a:rPr>
              <a:t> Late-interaction reranking (ColBERT-style) on the top 1000 candidates.</a:t>
            </a:r>
            <a:endParaRPr>
              <a:solidFill>
                <a:srgbClr val="000000"/>
              </a:solidFill>
            </a:endParaRPr>
          </a:p>
          <a:p>
            <a:pPr indent="0" lvl="0" marL="0" rtl="0" algn="l">
              <a:spcBef>
                <a:spcPts val="1200"/>
              </a:spcBef>
              <a:spcAft>
                <a:spcPts val="1200"/>
              </a:spcAft>
              <a:buNone/>
            </a:pPr>
            <a:r>
              <a:rPr lang="en">
                <a:solidFill>
                  <a:srgbClr val="000000"/>
                </a:solidFill>
              </a:rPr>
              <a:t>Our initial hypothesis was that 'more is better.' We built a heavy, 5-stage pipeline utilizing LightGBM, multiple dense retrievers, and complex Z-score normalization. We thought that by fusing every possible signal, BM25, DPH, MPNet etc. we could brute-force our way to high performance.</a:t>
            </a:r>
            <a:endParaRPr>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98250" y="16350"/>
            <a:ext cx="6651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en" sz="2160"/>
              <a:t>V1 Results: The Complexity Trap</a:t>
            </a:r>
            <a:endParaRPr b="1" sz="2160"/>
          </a:p>
        </p:txBody>
      </p:sp>
      <p:sp>
        <p:nvSpPr>
          <p:cNvPr id="94" name="Google Shape;94;p17"/>
          <p:cNvSpPr txBox="1"/>
          <p:nvPr/>
        </p:nvSpPr>
        <p:spPr>
          <a:xfrm>
            <a:off x="301750" y="1309950"/>
            <a:ext cx="6748200" cy="25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Roboto"/>
                <a:ea typeface="Roboto"/>
                <a:cs typeface="Roboto"/>
                <a:sym typeface="Roboto"/>
              </a:rPr>
              <a:t>Evaluation:</a:t>
            </a:r>
            <a:r>
              <a:rPr lang="en" sz="1500">
                <a:latin typeface="Roboto"/>
                <a:ea typeface="Roboto"/>
                <a:cs typeface="Roboto"/>
                <a:sym typeface="Roboto"/>
              </a:rPr>
              <a:t> Tested on the same held-out test set as the final pipeline.</a:t>
            </a:r>
            <a:endParaRPr sz="1500">
              <a:latin typeface="Roboto"/>
              <a:ea typeface="Roboto"/>
              <a:cs typeface="Roboto"/>
              <a:sym typeface="Roboto"/>
            </a:endParaRPr>
          </a:p>
          <a:p>
            <a:pPr indent="0" lvl="0" marL="0" rtl="0" algn="l">
              <a:spcBef>
                <a:spcPts val="0"/>
              </a:spcBef>
              <a:spcAft>
                <a:spcPts val="0"/>
              </a:spcAft>
              <a:buNone/>
            </a:pPr>
            <a:r>
              <a:t/>
            </a:r>
            <a:endParaRPr sz="1500">
              <a:latin typeface="Roboto"/>
              <a:ea typeface="Roboto"/>
              <a:cs typeface="Roboto"/>
              <a:sym typeface="Roboto"/>
            </a:endParaRPr>
          </a:p>
          <a:p>
            <a:pPr indent="0" lvl="0" marL="0" rtl="0" algn="l">
              <a:spcBef>
                <a:spcPts val="0"/>
              </a:spcBef>
              <a:spcAft>
                <a:spcPts val="0"/>
              </a:spcAft>
              <a:buNone/>
            </a:pPr>
            <a:r>
              <a:rPr b="1" lang="en" sz="1500">
                <a:latin typeface="Roboto"/>
                <a:ea typeface="Roboto"/>
                <a:cs typeface="Roboto"/>
                <a:sym typeface="Roboto"/>
              </a:rPr>
              <a:t>The Result:</a:t>
            </a:r>
            <a:r>
              <a:rPr lang="en" sz="1500">
                <a:latin typeface="Roboto"/>
                <a:ea typeface="Roboto"/>
                <a:cs typeface="Roboto"/>
                <a:sym typeface="Roboto"/>
              </a:rPr>
              <a:t> Despite the architectural complexity, the pipeline failed to capture relevant documents.</a:t>
            </a:r>
            <a:endParaRPr sz="1500">
              <a:latin typeface="Roboto"/>
              <a:ea typeface="Roboto"/>
              <a:cs typeface="Roboto"/>
              <a:sym typeface="Roboto"/>
            </a:endParaRPr>
          </a:p>
          <a:p>
            <a:pPr indent="-323850" lvl="0" marL="457200" rtl="0" algn="l">
              <a:lnSpc>
                <a:spcPct val="115000"/>
              </a:lnSpc>
              <a:spcBef>
                <a:spcPts val="1200"/>
              </a:spcBef>
              <a:spcAft>
                <a:spcPts val="0"/>
              </a:spcAft>
              <a:buSzPts val="1500"/>
              <a:buChar char="●"/>
            </a:pPr>
            <a:r>
              <a:rPr b="1" lang="en" sz="1500">
                <a:latin typeface="Roboto"/>
                <a:ea typeface="Roboto"/>
                <a:cs typeface="Roboto"/>
                <a:sym typeface="Roboto"/>
              </a:rPr>
              <a:t>Recall@1000:</a:t>
            </a:r>
            <a:r>
              <a:rPr lang="en" sz="1500">
                <a:latin typeface="Roboto"/>
                <a:ea typeface="Roboto"/>
                <a:cs typeface="Roboto"/>
                <a:sym typeface="Roboto"/>
              </a:rPr>
              <a:t> </a:t>
            </a:r>
            <a:r>
              <a:rPr b="1" lang="en" sz="1500">
                <a:latin typeface="Roboto"/>
                <a:ea typeface="Roboto"/>
                <a:cs typeface="Roboto"/>
                <a:sym typeface="Roboto"/>
              </a:rPr>
              <a:t>0.3204</a:t>
            </a:r>
            <a:r>
              <a:rPr lang="en" sz="1500">
                <a:latin typeface="Roboto"/>
                <a:ea typeface="Roboto"/>
                <a:cs typeface="Roboto"/>
                <a:sym typeface="Roboto"/>
              </a:rPr>
              <a:t> (The "Recall Ceiling" was too low).</a:t>
            </a:r>
            <a:endParaRPr sz="1500">
              <a:latin typeface="Roboto"/>
              <a:ea typeface="Roboto"/>
              <a:cs typeface="Roboto"/>
              <a:sym typeface="Roboto"/>
            </a:endParaRPr>
          </a:p>
          <a:p>
            <a:pPr indent="-323850" lvl="0" marL="457200" rtl="0" algn="l">
              <a:lnSpc>
                <a:spcPct val="115000"/>
              </a:lnSpc>
              <a:spcBef>
                <a:spcPts val="0"/>
              </a:spcBef>
              <a:spcAft>
                <a:spcPts val="0"/>
              </a:spcAft>
              <a:buSzPts val="1500"/>
              <a:buChar char="●"/>
            </a:pPr>
            <a:r>
              <a:rPr b="1" lang="en" sz="1500">
                <a:latin typeface="Roboto"/>
                <a:ea typeface="Roboto"/>
                <a:cs typeface="Roboto"/>
                <a:sym typeface="Roboto"/>
              </a:rPr>
              <a:t>Success@10:</a:t>
            </a:r>
            <a:r>
              <a:rPr lang="en" sz="1500">
                <a:latin typeface="Roboto"/>
                <a:ea typeface="Roboto"/>
                <a:cs typeface="Roboto"/>
                <a:sym typeface="Roboto"/>
              </a:rPr>
              <a:t> </a:t>
            </a:r>
            <a:r>
              <a:rPr b="1" lang="en" sz="1500">
                <a:latin typeface="Roboto"/>
                <a:ea typeface="Roboto"/>
                <a:cs typeface="Roboto"/>
                <a:sym typeface="Roboto"/>
              </a:rPr>
              <a:t>0.1009</a:t>
            </a:r>
            <a:r>
              <a:rPr lang="en" sz="1500">
                <a:latin typeface="Roboto"/>
                <a:ea typeface="Roboto"/>
                <a:cs typeface="Roboto"/>
                <a:sym typeface="Roboto"/>
              </a:rPr>
              <a:t> (Only ~10% of queries found a relevant doc in the top 10).</a:t>
            </a:r>
            <a:endParaRPr sz="1500">
              <a:latin typeface="Roboto"/>
              <a:ea typeface="Roboto"/>
              <a:cs typeface="Roboto"/>
              <a:sym typeface="Roboto"/>
            </a:endParaRPr>
          </a:p>
          <a:p>
            <a:pPr indent="-323850" lvl="0" marL="457200" rtl="0" algn="l">
              <a:lnSpc>
                <a:spcPct val="115000"/>
              </a:lnSpc>
              <a:spcBef>
                <a:spcPts val="0"/>
              </a:spcBef>
              <a:spcAft>
                <a:spcPts val="0"/>
              </a:spcAft>
              <a:buSzPts val="1500"/>
              <a:buChar char="●"/>
            </a:pPr>
            <a:r>
              <a:rPr b="1" lang="en" sz="1500">
                <a:latin typeface="Roboto"/>
                <a:ea typeface="Roboto"/>
                <a:cs typeface="Roboto"/>
                <a:sym typeface="Roboto"/>
              </a:rPr>
              <a:t>nDCG@10:</a:t>
            </a:r>
            <a:r>
              <a:rPr lang="en" sz="1500">
                <a:latin typeface="Roboto"/>
                <a:ea typeface="Roboto"/>
                <a:cs typeface="Roboto"/>
                <a:sym typeface="Roboto"/>
              </a:rPr>
              <a:t> </a:t>
            </a:r>
            <a:r>
              <a:rPr b="1" lang="en" sz="1500">
                <a:latin typeface="Roboto"/>
                <a:ea typeface="Roboto"/>
                <a:cs typeface="Roboto"/>
                <a:sym typeface="Roboto"/>
              </a:rPr>
              <a:t>0.0658</a:t>
            </a:r>
            <a:r>
              <a:rPr lang="en" sz="1500">
                <a:latin typeface="Roboto"/>
                <a:ea typeface="Roboto"/>
                <a:cs typeface="Roboto"/>
                <a:sym typeface="Roboto"/>
              </a:rPr>
              <a:t> (Ranking quality was negligible).</a:t>
            </a:r>
            <a:endParaRPr sz="2200">
              <a:solidFill>
                <a:schemeClr val="lt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98250" y="16350"/>
            <a:ext cx="6651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en" sz="2160"/>
              <a:t>Post-Mortem: Why Did V1 Fail?</a:t>
            </a:r>
            <a:endParaRPr b="1" sz="2160"/>
          </a:p>
        </p:txBody>
      </p:sp>
      <p:sp>
        <p:nvSpPr>
          <p:cNvPr id="100" name="Google Shape;100;p18"/>
          <p:cNvSpPr txBox="1"/>
          <p:nvPr/>
        </p:nvSpPr>
        <p:spPr>
          <a:xfrm>
            <a:off x="315475" y="854975"/>
            <a:ext cx="6967800" cy="38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Roboto"/>
                <a:ea typeface="Roboto"/>
                <a:cs typeface="Roboto"/>
                <a:sym typeface="Roboto"/>
              </a:rPr>
              <a:t>Diagnosis 1: Signal Dilution</a:t>
            </a:r>
            <a:endParaRPr b="1">
              <a:latin typeface="Roboto"/>
              <a:ea typeface="Roboto"/>
              <a:cs typeface="Roboto"/>
              <a:sym typeface="Roboto"/>
            </a:endParaRPr>
          </a:p>
          <a:p>
            <a:pPr indent="-317500" lvl="0" marL="457200" rtl="0" algn="l">
              <a:lnSpc>
                <a:spcPct val="115000"/>
              </a:lnSpc>
              <a:spcBef>
                <a:spcPts val="1200"/>
              </a:spcBef>
              <a:spcAft>
                <a:spcPts val="0"/>
              </a:spcAft>
              <a:buSzPts val="1400"/>
              <a:buFont typeface="Roboto"/>
              <a:buChar char="●"/>
            </a:pPr>
            <a:r>
              <a:rPr lang="en">
                <a:latin typeface="Roboto"/>
                <a:ea typeface="Roboto"/>
                <a:cs typeface="Roboto"/>
                <a:sym typeface="Roboto"/>
              </a:rPr>
              <a:t>Aggressive fusion (RRF + Weighted + Z-Score) diluted the strong signals with weak ones.</a:t>
            </a:r>
            <a:endParaRPr>
              <a:latin typeface="Roboto"/>
              <a:ea typeface="Roboto"/>
              <a:cs typeface="Roboto"/>
              <a:sym typeface="Roboto"/>
            </a:endParaRPr>
          </a:p>
          <a:p>
            <a:pPr indent="0" lvl="0" marL="0" rtl="0" algn="l">
              <a:lnSpc>
                <a:spcPct val="115000"/>
              </a:lnSpc>
              <a:spcBef>
                <a:spcPts val="1200"/>
              </a:spcBef>
              <a:spcAft>
                <a:spcPts val="0"/>
              </a:spcAft>
              <a:buNone/>
            </a:pPr>
            <a:r>
              <a:rPr b="1" lang="en">
                <a:latin typeface="Roboto"/>
                <a:ea typeface="Roboto"/>
                <a:cs typeface="Roboto"/>
                <a:sym typeface="Roboto"/>
              </a:rPr>
              <a:t>Diagnosis 2: The Recall Bottleneck</a:t>
            </a:r>
            <a:endParaRPr b="1">
              <a:latin typeface="Roboto"/>
              <a:ea typeface="Roboto"/>
              <a:cs typeface="Roboto"/>
              <a:sym typeface="Roboto"/>
            </a:endParaRPr>
          </a:p>
          <a:p>
            <a:pPr indent="-317500" lvl="0" marL="457200" rtl="0" algn="l">
              <a:lnSpc>
                <a:spcPct val="115000"/>
              </a:lnSpc>
              <a:spcBef>
                <a:spcPts val="1200"/>
              </a:spcBef>
              <a:spcAft>
                <a:spcPts val="0"/>
              </a:spcAft>
              <a:buSzPts val="1400"/>
              <a:buChar char="●"/>
            </a:pPr>
            <a:r>
              <a:rPr lang="en">
                <a:latin typeface="Roboto"/>
                <a:ea typeface="Roboto"/>
                <a:cs typeface="Roboto"/>
                <a:sym typeface="Roboto"/>
              </a:rPr>
              <a:t>Recall@1000 peaked at </a:t>
            </a:r>
            <a:r>
              <a:rPr b="1" lang="en">
                <a:latin typeface="Roboto"/>
                <a:ea typeface="Roboto"/>
                <a:cs typeface="Roboto"/>
                <a:sym typeface="Roboto"/>
              </a:rPr>
              <a:t>0.32</a:t>
            </a:r>
            <a:r>
              <a:rPr lang="en">
                <a:latin typeface="Roboto"/>
                <a:ea typeface="Roboto"/>
                <a:cs typeface="Roboto"/>
                <a:sym typeface="Roboto"/>
              </a:rPr>
              <a:t>. The downstream rerankers (LightGBM/ColBERT) were starving for relevant candidates. You cannot rerank what you haven't retrieved.</a:t>
            </a:r>
            <a:endParaRPr>
              <a:latin typeface="Roboto"/>
              <a:ea typeface="Roboto"/>
              <a:cs typeface="Roboto"/>
              <a:sym typeface="Roboto"/>
            </a:endParaRPr>
          </a:p>
          <a:p>
            <a:pPr indent="0" lvl="0" marL="0" rtl="0" algn="l">
              <a:lnSpc>
                <a:spcPct val="115000"/>
              </a:lnSpc>
              <a:spcBef>
                <a:spcPts val="1200"/>
              </a:spcBef>
              <a:spcAft>
                <a:spcPts val="0"/>
              </a:spcAft>
              <a:buNone/>
            </a:pPr>
            <a:r>
              <a:rPr b="1" lang="en">
                <a:latin typeface="Roboto"/>
                <a:ea typeface="Roboto"/>
                <a:cs typeface="Roboto"/>
                <a:sym typeface="Roboto"/>
              </a:rPr>
              <a:t>The Pivot:</a:t>
            </a:r>
            <a:endParaRPr b="1">
              <a:latin typeface="Roboto"/>
              <a:ea typeface="Roboto"/>
              <a:cs typeface="Roboto"/>
              <a:sym typeface="Roboto"/>
            </a:endParaRPr>
          </a:p>
          <a:p>
            <a:pPr indent="-317500" lvl="0" marL="457200" rtl="0" algn="l">
              <a:lnSpc>
                <a:spcPct val="115000"/>
              </a:lnSpc>
              <a:spcBef>
                <a:spcPts val="1200"/>
              </a:spcBef>
              <a:spcAft>
                <a:spcPts val="0"/>
              </a:spcAft>
              <a:buSzPts val="1400"/>
              <a:buChar char="●"/>
            </a:pPr>
            <a:r>
              <a:rPr lang="en">
                <a:latin typeface="Roboto"/>
                <a:ea typeface="Roboto"/>
                <a:cs typeface="Roboto"/>
                <a:sym typeface="Roboto"/>
              </a:rPr>
              <a:t>Shift from "Feature Engineering" (LTR) to </a:t>
            </a:r>
            <a:r>
              <a:rPr b="1" lang="en">
                <a:latin typeface="Roboto"/>
                <a:ea typeface="Roboto"/>
                <a:cs typeface="Roboto"/>
                <a:sym typeface="Roboto"/>
              </a:rPr>
              <a:t>"Intent Engineering"</a:t>
            </a:r>
            <a:r>
              <a:rPr lang="en">
                <a:latin typeface="Roboto"/>
                <a:ea typeface="Roboto"/>
                <a:cs typeface="Roboto"/>
                <a:sym typeface="Roboto"/>
              </a:rPr>
              <a:t> (Reformulation).</a:t>
            </a:r>
            <a:endParaRPr>
              <a:latin typeface="Roboto"/>
              <a:ea typeface="Roboto"/>
              <a:cs typeface="Roboto"/>
              <a:sym typeface="Roboto"/>
            </a:endParaRPr>
          </a:p>
          <a:p>
            <a:pPr indent="-317500" lvl="0" marL="457200" rtl="0" algn="l">
              <a:lnSpc>
                <a:spcPct val="115000"/>
              </a:lnSpc>
              <a:spcBef>
                <a:spcPts val="0"/>
              </a:spcBef>
              <a:spcAft>
                <a:spcPts val="0"/>
              </a:spcAft>
              <a:buSzPts val="1400"/>
              <a:buChar char="●"/>
            </a:pPr>
            <a:r>
              <a:rPr lang="en">
                <a:latin typeface="Roboto"/>
                <a:ea typeface="Roboto"/>
                <a:cs typeface="Roboto"/>
                <a:sym typeface="Roboto"/>
              </a:rPr>
              <a:t>Simplify the pipeline to focus on </a:t>
            </a:r>
            <a:r>
              <a:rPr b="1" lang="en">
                <a:latin typeface="Roboto"/>
                <a:ea typeface="Roboto"/>
                <a:cs typeface="Roboto"/>
                <a:sym typeface="Roboto"/>
              </a:rPr>
              <a:t>High Recall First</a:t>
            </a:r>
            <a:r>
              <a:rPr lang="en">
                <a:latin typeface="Roboto"/>
                <a:ea typeface="Roboto"/>
                <a:cs typeface="Roboto"/>
                <a:sym typeface="Roboto"/>
              </a:rPr>
              <a:t>, then </a:t>
            </a:r>
            <a:r>
              <a:rPr b="1" lang="en">
                <a:latin typeface="Roboto"/>
                <a:ea typeface="Roboto"/>
                <a:cs typeface="Roboto"/>
                <a:sym typeface="Roboto"/>
              </a:rPr>
              <a:t>High Precision</a:t>
            </a:r>
            <a:r>
              <a:rPr lang="en">
                <a:latin typeface="Roboto"/>
                <a:ea typeface="Roboto"/>
                <a:cs typeface="Roboto"/>
                <a:sym typeface="Roboto"/>
              </a:rPr>
              <a:t>.</a:t>
            </a:r>
            <a:endParaRPr>
              <a:latin typeface="Roboto"/>
              <a:ea typeface="Roboto"/>
              <a:cs typeface="Roboto"/>
              <a:sym typeface="Roboto"/>
            </a:endParaRPr>
          </a:p>
          <a:p>
            <a:pPr indent="-317500" lvl="0" marL="457200" rtl="0" algn="l">
              <a:lnSpc>
                <a:spcPct val="115000"/>
              </a:lnSpc>
              <a:spcBef>
                <a:spcPts val="0"/>
              </a:spcBef>
              <a:spcAft>
                <a:spcPts val="0"/>
              </a:spcAft>
              <a:buSzPts val="1400"/>
              <a:buChar char="●"/>
            </a:pPr>
            <a:r>
              <a:rPr i="1" lang="en">
                <a:latin typeface="Roboto"/>
                <a:ea typeface="Roboto"/>
                <a:cs typeface="Roboto"/>
                <a:sym typeface="Roboto"/>
              </a:rPr>
              <a:t>Result:</a:t>
            </a:r>
            <a:r>
              <a:rPr lang="en">
                <a:latin typeface="Roboto"/>
                <a:ea typeface="Roboto"/>
                <a:cs typeface="Roboto"/>
                <a:sym typeface="Roboto"/>
              </a:rPr>
              <a:t> This failure paved the way for the </a:t>
            </a:r>
            <a:r>
              <a:rPr b="1" lang="en">
                <a:latin typeface="Roboto"/>
                <a:ea typeface="Roboto"/>
                <a:cs typeface="Roboto"/>
                <a:sym typeface="Roboto"/>
              </a:rPr>
              <a:t>Reformulation-First Architecture</a:t>
            </a:r>
            <a:r>
              <a:rPr lang="en">
                <a:latin typeface="Roboto"/>
                <a:ea typeface="Roboto"/>
                <a:cs typeface="Roboto"/>
                <a:sym typeface="Roboto"/>
              </a:rPr>
              <a:t> (Pipeline V2).</a:t>
            </a:r>
            <a:endParaRPr>
              <a:latin typeface="Roboto"/>
              <a:ea typeface="Roboto"/>
              <a:cs typeface="Roboto"/>
              <a:sym typeface="Roboto"/>
            </a:endParaRPr>
          </a:p>
          <a:p>
            <a:pPr indent="0" lvl="0" marL="0" rtl="0" algn="l">
              <a:spcBef>
                <a:spcPts val="1200"/>
              </a:spcBef>
              <a:spcAft>
                <a:spcPts val="0"/>
              </a:spcAft>
              <a:buNone/>
            </a:pPr>
            <a:r>
              <a:t/>
            </a:r>
            <a:endParaRPr sz="2100">
              <a:solidFill>
                <a:schemeClr val="lt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ctrTitle"/>
          </p:nvPr>
        </p:nvSpPr>
        <p:spPr>
          <a:xfrm>
            <a:off x="390525" y="1085250"/>
            <a:ext cx="8222100" cy="1486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t>Revised </a:t>
            </a:r>
            <a:r>
              <a:rPr b="1" lang="en"/>
              <a:t>Methodology and Analysis</a:t>
            </a:r>
            <a:endParaRPr b="1"/>
          </a:p>
        </p:txBody>
      </p:sp>
      <p:sp>
        <p:nvSpPr>
          <p:cNvPr id="106" name="Google Shape;106;p19"/>
          <p:cNvSpPr txBox="1"/>
          <p:nvPr>
            <p:ph idx="1" type="subTitle"/>
          </p:nvPr>
        </p:nvSpPr>
        <p:spPr>
          <a:xfrm>
            <a:off x="390525" y="2651943"/>
            <a:ext cx="8222100" cy="97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50"/>
              <a:t>We started working on Pipeline V2, right after the submission deadline, using the dataset splits and QRELs already </a:t>
            </a:r>
            <a:r>
              <a:rPr lang="en" sz="1250"/>
              <a:t>available</a:t>
            </a:r>
            <a:r>
              <a:rPr lang="en" sz="1250"/>
              <a:t> on the Track’s website. We were able to validate our improved pipeline using the held out test set, when the track organizers, emailed us the test set QRELs along with the </a:t>
            </a:r>
            <a:r>
              <a:rPr lang="en" sz="1250"/>
              <a:t>evaluation</a:t>
            </a:r>
            <a:r>
              <a:rPr lang="en" sz="1250"/>
              <a:t> files of our original pipeline</a:t>
            </a:r>
            <a:endParaRPr sz="125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471900" y="297475"/>
            <a:ext cx="8222100" cy="1209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t>The Challenge: Tip-of-the-Tongue (ToT) Bottleneck</a:t>
            </a:r>
            <a:endParaRPr b="1"/>
          </a:p>
        </p:txBody>
      </p:sp>
      <p:sp>
        <p:nvSpPr>
          <p:cNvPr id="112" name="Google Shape;112;p20"/>
          <p:cNvSpPr txBox="1"/>
          <p:nvPr>
            <p:ph idx="1" type="body"/>
          </p:nvPr>
        </p:nvSpPr>
        <p:spPr>
          <a:xfrm>
            <a:off x="471900" y="1903800"/>
            <a:ext cx="3909000" cy="323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The Problem:</a:t>
            </a:r>
            <a:r>
              <a:rPr lang="en">
                <a:solidFill>
                  <a:srgbClr val="000000"/>
                </a:solidFill>
              </a:rPr>
              <a:t> The original queries are riddled with </a:t>
            </a:r>
            <a:r>
              <a:rPr lang="en">
                <a:solidFill>
                  <a:srgbClr val="000000"/>
                </a:solidFill>
              </a:rPr>
              <a:t>ToT </a:t>
            </a:r>
            <a:r>
              <a:rPr lang="en">
                <a:solidFill>
                  <a:srgbClr val="000000"/>
                </a:solidFill>
              </a:rPr>
              <a:t>artifacts, diluting the signal of key terms.</a:t>
            </a:r>
            <a:endParaRPr>
              <a:solidFill>
                <a:srgbClr val="000000"/>
              </a:solidFill>
            </a:endParaRPr>
          </a:p>
          <a:p>
            <a:pPr indent="0" lvl="0" marL="0" rtl="0" algn="l">
              <a:spcBef>
                <a:spcPts val="1200"/>
              </a:spcBef>
              <a:spcAft>
                <a:spcPts val="0"/>
              </a:spcAft>
              <a:buNone/>
            </a:pPr>
            <a:r>
              <a:t/>
            </a:r>
            <a:endParaRPr>
              <a:solidFill>
                <a:srgbClr val="000000"/>
              </a:solidFill>
            </a:endParaRPr>
          </a:p>
          <a:p>
            <a:pPr indent="0" lvl="0" marL="0" rtl="0" algn="l">
              <a:spcBef>
                <a:spcPts val="1200"/>
              </a:spcBef>
              <a:spcAft>
                <a:spcPts val="1200"/>
              </a:spcAft>
              <a:buNone/>
            </a:pPr>
            <a:r>
              <a:rPr b="1" lang="en">
                <a:solidFill>
                  <a:srgbClr val="000000"/>
                </a:solidFill>
              </a:rPr>
              <a:t>The Consequence:</a:t>
            </a:r>
            <a:r>
              <a:rPr lang="en">
                <a:solidFill>
                  <a:srgbClr val="000000"/>
                </a:solidFill>
              </a:rPr>
              <a:t> Sparse retrievers (e.g., BM25), even when well-tuned, fail to retrieve relevant documents due to this noise.</a:t>
            </a:r>
            <a:endParaRPr>
              <a:solidFill>
                <a:srgbClr val="000000"/>
              </a:solidFill>
            </a:endParaRPr>
          </a:p>
        </p:txBody>
      </p:sp>
      <p:pic>
        <p:nvPicPr>
          <p:cNvPr id="113" name="Google Shape;113;p20" title="original_BM25_nDCG10.png"/>
          <p:cNvPicPr preferRelativeResize="0"/>
          <p:nvPr/>
        </p:nvPicPr>
        <p:blipFill>
          <a:blip r:embed="rId3">
            <a:alphaModFix/>
          </a:blip>
          <a:stretch>
            <a:fillRect/>
          </a:stretch>
        </p:blipFill>
        <p:spPr>
          <a:xfrm>
            <a:off x="4479300" y="2011800"/>
            <a:ext cx="4214700" cy="26341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idx="1" type="body"/>
          </p:nvPr>
        </p:nvSpPr>
        <p:spPr>
          <a:xfrm>
            <a:off x="471900" y="1902850"/>
            <a:ext cx="4100100" cy="297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The Root Cause:</a:t>
            </a:r>
            <a:r>
              <a:rPr lang="en">
                <a:solidFill>
                  <a:srgbClr val="000000"/>
                </a:solidFill>
              </a:rPr>
              <a:t> The primary bottleneck is Intent Understanding, not ranking.</a:t>
            </a:r>
            <a:endParaRPr>
              <a:solidFill>
                <a:srgbClr val="000000"/>
              </a:solidFill>
            </a:endParaRPr>
          </a:p>
          <a:p>
            <a:pPr indent="0" lvl="0" marL="0" rtl="0" algn="l">
              <a:spcBef>
                <a:spcPts val="1200"/>
              </a:spcBef>
              <a:spcAft>
                <a:spcPts val="0"/>
              </a:spcAft>
              <a:buNone/>
            </a:pPr>
            <a:r>
              <a:t/>
            </a:r>
            <a:endParaRPr>
              <a:solidFill>
                <a:srgbClr val="000000"/>
              </a:solidFill>
            </a:endParaRPr>
          </a:p>
          <a:p>
            <a:pPr indent="0" lvl="0" marL="0" rtl="0" algn="l">
              <a:spcBef>
                <a:spcPts val="1200"/>
              </a:spcBef>
              <a:spcAft>
                <a:spcPts val="1200"/>
              </a:spcAft>
              <a:buNone/>
            </a:pPr>
            <a:r>
              <a:rPr b="1" lang="en">
                <a:solidFill>
                  <a:srgbClr val="000000"/>
                </a:solidFill>
              </a:rPr>
              <a:t>Strategy</a:t>
            </a:r>
            <a:r>
              <a:rPr b="1" lang="en">
                <a:solidFill>
                  <a:srgbClr val="000000"/>
                </a:solidFill>
              </a:rPr>
              <a:t>:</a:t>
            </a:r>
            <a:r>
              <a:rPr lang="en">
                <a:solidFill>
                  <a:srgbClr val="000000"/>
                </a:solidFill>
              </a:rPr>
              <a:t> Without extracting stronger signals via Query Reformulation, the pipeline suffers from "Garbage In, Garbage Out" (GIGO).</a:t>
            </a:r>
            <a:endParaRPr>
              <a:solidFill>
                <a:srgbClr val="000000"/>
              </a:solidFill>
            </a:endParaRPr>
          </a:p>
        </p:txBody>
      </p:sp>
      <p:sp>
        <p:nvSpPr>
          <p:cNvPr id="119" name="Google Shape;119;p21"/>
          <p:cNvSpPr txBox="1"/>
          <p:nvPr>
            <p:ph type="title"/>
          </p:nvPr>
        </p:nvSpPr>
        <p:spPr>
          <a:xfrm>
            <a:off x="471900" y="297475"/>
            <a:ext cx="8222100" cy="1209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t>The Challenge: Tip-of-the-Tongue (ToT) Bottleneck (contd.)</a:t>
            </a:r>
            <a:endParaRPr b="1"/>
          </a:p>
        </p:txBody>
      </p:sp>
      <p:pic>
        <p:nvPicPr>
          <p:cNvPr id="120" name="Google Shape;120;p21" title="original_BM25_recall1000.png"/>
          <p:cNvPicPr preferRelativeResize="0"/>
          <p:nvPr/>
        </p:nvPicPr>
        <p:blipFill>
          <a:blip r:embed="rId3">
            <a:alphaModFix/>
          </a:blip>
          <a:stretch>
            <a:fillRect/>
          </a:stretch>
        </p:blipFill>
        <p:spPr>
          <a:xfrm>
            <a:off x="4680000" y="2054500"/>
            <a:ext cx="4176000" cy="2610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212575" y="1478250"/>
            <a:ext cx="2808000" cy="1712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200"/>
              <a:t>Query Reformulation Flow</a:t>
            </a:r>
            <a:endParaRPr b="1" sz="3200"/>
          </a:p>
        </p:txBody>
      </p:sp>
      <p:pic>
        <p:nvPicPr>
          <p:cNvPr id="126" name="Google Shape;126;p22" title="llm-rewriter-flowchart.png"/>
          <p:cNvPicPr preferRelativeResize="0"/>
          <p:nvPr/>
        </p:nvPicPr>
        <p:blipFill>
          <a:blip r:embed="rId3">
            <a:alphaModFix/>
          </a:blip>
          <a:stretch>
            <a:fillRect/>
          </a:stretch>
        </p:blipFill>
        <p:spPr>
          <a:xfrm>
            <a:off x="3918900" y="123800"/>
            <a:ext cx="4761600" cy="4895899"/>
          </a:xfrm>
          <a:prstGeom prst="rect">
            <a:avLst/>
          </a:prstGeom>
          <a:noFill/>
          <a:ln>
            <a:noFill/>
          </a:ln>
        </p:spPr>
      </p:pic>
      <p:sp>
        <p:nvSpPr>
          <p:cNvPr id="127" name="Google Shape;127;p22"/>
          <p:cNvSpPr txBox="1"/>
          <p:nvPr/>
        </p:nvSpPr>
        <p:spPr>
          <a:xfrm>
            <a:off x="4212000" y="4108500"/>
            <a:ext cx="2065500" cy="7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latin typeface="Roboto"/>
                <a:ea typeface="Roboto"/>
                <a:cs typeface="Roboto"/>
                <a:sym typeface="Roboto"/>
              </a:rPr>
              <a:t>Figure: Visualizing the transformation of raw ToT queries into structured search intents.</a:t>
            </a:r>
            <a:endParaRPr b="1" sz="1100">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185575" y="1503000"/>
            <a:ext cx="2986800" cy="1224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200"/>
              <a:t>Re-writer </a:t>
            </a:r>
            <a:r>
              <a:rPr b="1" lang="en" sz="3200"/>
              <a:t>Prompt Design</a:t>
            </a:r>
            <a:endParaRPr b="1" sz="3200"/>
          </a:p>
        </p:txBody>
      </p:sp>
      <p:sp>
        <p:nvSpPr>
          <p:cNvPr id="133" name="Google Shape;133;p23"/>
          <p:cNvSpPr txBox="1"/>
          <p:nvPr>
            <p:ph idx="1" type="body"/>
          </p:nvPr>
        </p:nvSpPr>
        <p:spPr>
          <a:xfrm>
            <a:off x="3510000" y="174450"/>
            <a:ext cx="5454000" cy="47442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852"/>
              <a:buNone/>
            </a:pPr>
            <a:r>
              <a:rPr lang="en" sz="1595">
                <a:solidFill>
                  <a:srgbClr val="000000"/>
                </a:solidFill>
              </a:rPr>
              <a:t>You are a query rewriter for a search engine. Your task is to rewrite a complex, verbose, tip-of-the-tongue description into a simple, keyword-focused search query</a:t>
            </a:r>
            <a:r>
              <a:rPr lang="en" sz="1595">
                <a:solidFill>
                  <a:srgbClr val="000000"/>
                </a:solidFill>
              </a:rPr>
              <a:t>.</a:t>
            </a:r>
            <a:endParaRPr sz="1595">
              <a:solidFill>
                <a:srgbClr val="000000"/>
              </a:solidFill>
            </a:endParaRPr>
          </a:p>
          <a:p>
            <a:pPr indent="0" lvl="0" marL="0" rtl="0" algn="l">
              <a:lnSpc>
                <a:spcPct val="105000"/>
              </a:lnSpc>
              <a:spcBef>
                <a:spcPts val="1200"/>
              </a:spcBef>
              <a:spcAft>
                <a:spcPts val="0"/>
              </a:spcAft>
              <a:buSzPts val="852"/>
              <a:buNone/>
            </a:pPr>
            <a:r>
              <a:rPr lang="en" sz="1595">
                <a:solidFill>
                  <a:srgbClr val="000000"/>
                </a:solidFill>
              </a:rPr>
              <a:t>Guidelines:</a:t>
            </a:r>
            <a:endParaRPr sz="1595">
              <a:solidFill>
                <a:srgbClr val="000000"/>
              </a:solidFill>
            </a:endParaRPr>
          </a:p>
          <a:p>
            <a:pPr indent="-329882" lvl="0" marL="457200" rtl="0" algn="l">
              <a:lnSpc>
                <a:spcPct val="105000"/>
              </a:lnSpc>
              <a:spcBef>
                <a:spcPts val="1200"/>
              </a:spcBef>
              <a:spcAft>
                <a:spcPts val="0"/>
              </a:spcAft>
              <a:buClr>
                <a:srgbClr val="000000"/>
              </a:buClr>
              <a:buSzPts val="1595"/>
              <a:buAutoNum type="arabicPeriod"/>
            </a:pPr>
            <a:r>
              <a:rPr lang="en" sz="1595">
                <a:solidFill>
                  <a:srgbClr val="000000"/>
                </a:solidFill>
              </a:rPr>
              <a:t>Identify the core entity type (e.g., movie, book, song) if implied.</a:t>
            </a:r>
            <a:endParaRPr sz="1595">
              <a:solidFill>
                <a:srgbClr val="000000"/>
              </a:solidFill>
            </a:endParaRPr>
          </a:p>
          <a:p>
            <a:pPr indent="-329882" lvl="0" marL="457200" rtl="0" algn="l">
              <a:lnSpc>
                <a:spcPct val="105000"/>
              </a:lnSpc>
              <a:spcBef>
                <a:spcPts val="0"/>
              </a:spcBef>
              <a:spcAft>
                <a:spcPts val="0"/>
              </a:spcAft>
              <a:buClr>
                <a:srgbClr val="000000"/>
              </a:buClr>
              <a:buSzPts val="1595"/>
              <a:buAutoNum type="arabicPeriod"/>
            </a:pPr>
            <a:r>
              <a:rPr lang="en" sz="1595">
                <a:solidFill>
                  <a:srgbClr val="000000"/>
                </a:solidFill>
              </a:rPr>
              <a:t>Extract key details: plot points, character names, actors, famous scenes, or unique identifiers.</a:t>
            </a:r>
            <a:endParaRPr sz="1595">
              <a:solidFill>
                <a:srgbClr val="000000"/>
              </a:solidFill>
            </a:endParaRPr>
          </a:p>
          <a:p>
            <a:pPr indent="-329882" lvl="0" marL="457200" rtl="0" algn="l">
              <a:lnSpc>
                <a:spcPct val="105000"/>
              </a:lnSpc>
              <a:spcBef>
                <a:spcPts val="0"/>
              </a:spcBef>
              <a:spcAft>
                <a:spcPts val="0"/>
              </a:spcAft>
              <a:buClr>
                <a:srgbClr val="000000"/>
              </a:buClr>
              <a:buSzPts val="1595"/>
              <a:buAutoNum type="arabicPeriod"/>
            </a:pPr>
            <a:r>
              <a:rPr lang="en" sz="1595">
                <a:solidFill>
                  <a:srgbClr val="000000"/>
                </a:solidFill>
              </a:rPr>
              <a:t>Remove conversational filler ("I think it was...", "It might be...", "I remember seeing...").</a:t>
            </a:r>
            <a:endParaRPr sz="1595">
              <a:solidFill>
                <a:srgbClr val="000000"/>
              </a:solidFill>
            </a:endParaRPr>
          </a:p>
          <a:p>
            <a:pPr indent="-329882" lvl="0" marL="457200" rtl="0" algn="l">
              <a:lnSpc>
                <a:spcPct val="105000"/>
              </a:lnSpc>
              <a:spcBef>
                <a:spcPts val="0"/>
              </a:spcBef>
              <a:spcAft>
                <a:spcPts val="0"/>
              </a:spcAft>
              <a:buClr>
                <a:srgbClr val="000000"/>
              </a:buClr>
              <a:buSzPts val="1595"/>
              <a:buAutoNum type="arabicPeriod"/>
            </a:pPr>
            <a:r>
              <a:rPr lang="en" sz="1595">
                <a:solidFill>
                  <a:srgbClr val="000000"/>
                </a:solidFill>
              </a:rPr>
              <a:t>Remove negative constraints or uncertainty unless crucial ("Not sure if...").</a:t>
            </a:r>
            <a:endParaRPr sz="1595">
              <a:solidFill>
                <a:srgbClr val="000000"/>
              </a:solidFill>
            </a:endParaRPr>
          </a:p>
          <a:p>
            <a:pPr indent="-329882" lvl="0" marL="457200" rtl="0" algn="l">
              <a:lnSpc>
                <a:spcPct val="105000"/>
              </a:lnSpc>
              <a:spcBef>
                <a:spcPts val="0"/>
              </a:spcBef>
              <a:spcAft>
                <a:spcPts val="0"/>
              </a:spcAft>
              <a:buClr>
                <a:srgbClr val="000000"/>
              </a:buClr>
              <a:buSzPts val="1595"/>
              <a:buAutoNum type="arabicPeriod"/>
            </a:pPr>
            <a:r>
              <a:rPr lang="en" sz="1595">
                <a:solidFill>
                  <a:srgbClr val="000000"/>
                </a:solidFill>
              </a:rPr>
              <a:t>Formulate a concise query that a standard search engine (like Google or BM25) would understand.</a:t>
            </a:r>
            <a:endParaRPr sz="1595">
              <a:solidFill>
                <a:srgbClr val="000000"/>
              </a:solidFill>
            </a:endParaRPr>
          </a:p>
          <a:p>
            <a:pPr indent="-329882" lvl="0" marL="457200" rtl="0" algn="l">
              <a:lnSpc>
                <a:spcPct val="105000"/>
              </a:lnSpc>
              <a:spcBef>
                <a:spcPts val="0"/>
              </a:spcBef>
              <a:spcAft>
                <a:spcPts val="0"/>
              </a:spcAft>
              <a:buClr>
                <a:srgbClr val="000000"/>
              </a:buClr>
              <a:buSzPts val="1595"/>
              <a:buAutoNum type="arabicPeriod"/>
            </a:pPr>
            <a:r>
              <a:rPr lang="en" sz="1595">
                <a:solidFill>
                  <a:srgbClr val="000000"/>
                </a:solidFill>
              </a:rPr>
              <a:t>Output ONLY the rewritten query text. Do not output any explanations.</a:t>
            </a:r>
            <a:endParaRPr sz="1595">
              <a:solidFill>
                <a:srgbClr val="000000"/>
              </a:solidFill>
            </a:endParaRPr>
          </a:p>
        </p:txBody>
      </p:sp>
      <p:sp>
        <p:nvSpPr>
          <p:cNvPr id="134" name="Google Shape;134;p23"/>
          <p:cNvSpPr txBox="1"/>
          <p:nvPr/>
        </p:nvSpPr>
        <p:spPr>
          <a:xfrm>
            <a:off x="322225" y="3447000"/>
            <a:ext cx="2713500" cy="11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Roboto"/>
                <a:ea typeface="Roboto"/>
                <a:cs typeface="Roboto"/>
                <a:sym typeface="Roboto"/>
              </a:rPr>
              <a:t>Figure: This prompt forces the models to act as strict filters, distilling the user's vague recollection into a structured search query</a:t>
            </a:r>
            <a:endParaRPr sz="1300">
              <a:solidFill>
                <a:schemeClr val="lt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309900" y="563225"/>
            <a:ext cx="8546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t>Query Consensus via Summarization Strategy</a:t>
            </a:r>
            <a:endParaRPr b="1"/>
          </a:p>
        </p:txBody>
      </p:sp>
      <p:sp>
        <p:nvSpPr>
          <p:cNvPr id="140" name="Google Shape;140;p24"/>
          <p:cNvSpPr txBox="1"/>
          <p:nvPr>
            <p:ph idx="1" type="body"/>
          </p:nvPr>
        </p:nvSpPr>
        <p:spPr>
          <a:xfrm>
            <a:off x="471900" y="1743575"/>
            <a:ext cx="8222100" cy="317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rgbClr val="000000"/>
                </a:solidFill>
              </a:rPr>
              <a:t>Hypothesis:</a:t>
            </a:r>
            <a:r>
              <a:rPr lang="en" sz="1400">
                <a:solidFill>
                  <a:srgbClr val="000000"/>
                </a:solidFill>
              </a:rPr>
              <a:t> While individual rewriters offer distinct perspectives, a </a:t>
            </a:r>
            <a:r>
              <a:rPr b="1" lang="en" sz="1400">
                <a:solidFill>
                  <a:srgbClr val="000000"/>
                </a:solidFill>
              </a:rPr>
              <a:t>consensus view</a:t>
            </a:r>
            <a:r>
              <a:rPr lang="en" sz="1400">
                <a:solidFill>
                  <a:srgbClr val="000000"/>
                </a:solidFill>
              </a:rPr>
              <a:t> provides the most robust query representation.</a:t>
            </a:r>
            <a:endParaRPr sz="1400">
              <a:solidFill>
                <a:srgbClr val="000000"/>
              </a:solidFill>
            </a:endParaRPr>
          </a:p>
          <a:p>
            <a:pPr indent="0" lvl="0" marL="0" rtl="0" algn="l">
              <a:spcBef>
                <a:spcPts val="1200"/>
              </a:spcBef>
              <a:spcAft>
                <a:spcPts val="0"/>
              </a:spcAft>
              <a:buNone/>
            </a:pPr>
            <a:r>
              <a:rPr b="1" lang="en" sz="1400">
                <a:solidFill>
                  <a:srgbClr val="000000"/>
                </a:solidFill>
              </a:rPr>
              <a:t>The Solution:</a:t>
            </a:r>
            <a:r>
              <a:rPr lang="en" sz="1400">
                <a:solidFill>
                  <a:srgbClr val="000000"/>
                </a:solidFill>
              </a:rPr>
              <a:t> Introduced a </a:t>
            </a:r>
            <a:r>
              <a:rPr b="1" lang="en" sz="1400">
                <a:solidFill>
                  <a:srgbClr val="000000"/>
                </a:solidFill>
              </a:rPr>
              <a:t>Summarizer</a:t>
            </a:r>
            <a:r>
              <a:rPr lang="en" sz="1400">
                <a:solidFill>
                  <a:srgbClr val="000000"/>
                </a:solidFill>
              </a:rPr>
              <a:t> stage using </a:t>
            </a:r>
            <a:r>
              <a:rPr b="1" lang="en" sz="1400">
                <a:solidFill>
                  <a:srgbClr val="000000"/>
                </a:solidFill>
              </a:rPr>
              <a:t>Meta-Llama-3.1-8B-Instruct</a:t>
            </a:r>
            <a:r>
              <a:rPr lang="en" sz="1400">
                <a:solidFill>
                  <a:srgbClr val="000000"/>
                </a:solidFill>
              </a:rPr>
              <a:t>.</a:t>
            </a:r>
            <a:endParaRPr sz="1400">
              <a:solidFill>
                <a:srgbClr val="000000"/>
              </a:solidFill>
            </a:endParaRPr>
          </a:p>
          <a:p>
            <a:pPr indent="0" lvl="0" marL="0" rtl="0" algn="l">
              <a:spcBef>
                <a:spcPts val="1200"/>
              </a:spcBef>
              <a:spcAft>
                <a:spcPts val="0"/>
              </a:spcAft>
              <a:buNone/>
            </a:pPr>
            <a:r>
              <a:rPr b="1" lang="en" sz="1400">
                <a:solidFill>
                  <a:srgbClr val="000000"/>
                </a:solidFill>
              </a:rPr>
              <a:t>The Mechanism:</a:t>
            </a:r>
            <a:endParaRPr b="1" sz="1400">
              <a:solidFill>
                <a:srgbClr val="000000"/>
              </a:solidFill>
            </a:endParaRPr>
          </a:p>
          <a:p>
            <a:pPr indent="-317500" lvl="0" marL="457200" rtl="0" algn="l">
              <a:spcBef>
                <a:spcPts val="1200"/>
              </a:spcBef>
              <a:spcAft>
                <a:spcPts val="0"/>
              </a:spcAft>
              <a:buClr>
                <a:srgbClr val="000000"/>
              </a:buClr>
              <a:buSzPts val="1400"/>
              <a:buFont typeface="Arial"/>
              <a:buChar char="●"/>
            </a:pPr>
            <a:r>
              <a:rPr b="1" lang="en" sz="1400">
                <a:solidFill>
                  <a:srgbClr val="000000"/>
                </a:solidFill>
              </a:rPr>
              <a:t>Input:</a:t>
            </a:r>
            <a:r>
              <a:rPr lang="en" sz="1400">
                <a:solidFill>
                  <a:srgbClr val="000000"/>
                </a:solidFill>
              </a:rPr>
              <a:t> Receives the three rewritten query variations.</a:t>
            </a:r>
            <a:endParaRPr sz="1400">
              <a:solidFill>
                <a:srgbClr val="000000"/>
              </a:solidFil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rPr>
              <a:t>Process:</a:t>
            </a:r>
            <a:r>
              <a:rPr lang="en" sz="1400">
                <a:solidFill>
                  <a:srgbClr val="000000"/>
                </a:solidFill>
              </a:rPr>
              <a:t> Fuses them into a single, high-quality query.</a:t>
            </a:r>
            <a:endParaRPr sz="1400">
              <a:solidFill>
                <a:srgbClr val="000000"/>
              </a:solidFill>
            </a:endParaRPr>
          </a:p>
          <a:p>
            <a:pPr indent="0" lvl="0" marL="0" rtl="0" algn="l">
              <a:spcBef>
                <a:spcPts val="1200"/>
              </a:spcBef>
              <a:spcAft>
                <a:spcPts val="0"/>
              </a:spcAft>
              <a:buNone/>
            </a:pPr>
            <a:r>
              <a:rPr b="1" lang="en" sz="1400">
                <a:solidFill>
                  <a:srgbClr val="000000"/>
                </a:solidFill>
              </a:rPr>
              <a:t>Key Advantage:</a:t>
            </a:r>
            <a:endParaRPr b="1" sz="1400">
              <a:solidFill>
                <a:srgbClr val="000000"/>
              </a:solidFill>
            </a:endParaRPr>
          </a:p>
          <a:p>
            <a:pPr indent="-317500" lvl="0" marL="457200" rtl="0" algn="l">
              <a:spcBef>
                <a:spcPts val="1200"/>
              </a:spcBef>
              <a:spcAft>
                <a:spcPts val="0"/>
              </a:spcAft>
              <a:buClr>
                <a:srgbClr val="000000"/>
              </a:buClr>
              <a:buSzPts val="1400"/>
              <a:buFont typeface="Arial"/>
              <a:buChar char="●"/>
            </a:pPr>
            <a:r>
              <a:rPr b="1" lang="en" sz="1400">
                <a:solidFill>
                  <a:srgbClr val="000000"/>
                </a:solidFill>
              </a:rPr>
              <a:t>Preserves Signal:</a:t>
            </a:r>
            <a:r>
              <a:rPr lang="en" sz="1400">
                <a:solidFill>
                  <a:srgbClr val="000000"/>
                </a:solidFill>
              </a:rPr>
              <a:t> Retains the most salient keywords identified across the ensemble.</a:t>
            </a:r>
            <a:endParaRPr sz="1400">
              <a:solidFill>
                <a:srgbClr val="000000"/>
              </a:solidFil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rPr>
              <a:t>Reduces Noise:</a:t>
            </a:r>
            <a:r>
              <a:rPr lang="en" sz="1400">
                <a:solidFill>
                  <a:srgbClr val="000000"/>
                </a:solidFill>
              </a:rPr>
              <a:t> Filters out hallucinations and idiosyncratic errors found in individual models.</a:t>
            </a:r>
            <a:endParaRPr sz="2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212575" y="1404000"/>
            <a:ext cx="2808000" cy="1714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200"/>
              <a:t>Summarizer Prompt Design</a:t>
            </a:r>
            <a:endParaRPr b="1" sz="3200"/>
          </a:p>
        </p:txBody>
      </p:sp>
      <p:sp>
        <p:nvSpPr>
          <p:cNvPr id="146" name="Google Shape;146;p25"/>
          <p:cNvSpPr txBox="1"/>
          <p:nvPr>
            <p:ph idx="1" type="body"/>
          </p:nvPr>
        </p:nvSpPr>
        <p:spPr>
          <a:xfrm>
            <a:off x="3469500" y="126000"/>
            <a:ext cx="5521500" cy="48600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sz="1650">
                <a:solidFill>
                  <a:srgbClr val="000000"/>
                </a:solidFill>
              </a:rPr>
              <a:t>You are an expert search query optimizer. You will be given three different rewrites of the same original vague query. Your goal is to synthesize the BEST possible search query by combining the unique information from all three sources.</a:t>
            </a:r>
            <a:endParaRPr sz="1650">
              <a:solidFill>
                <a:srgbClr val="000000"/>
              </a:solidFill>
            </a:endParaRPr>
          </a:p>
          <a:p>
            <a:pPr indent="0" lvl="0" marL="0" rtl="0" algn="l">
              <a:spcBef>
                <a:spcPts val="1200"/>
              </a:spcBef>
              <a:spcAft>
                <a:spcPts val="0"/>
              </a:spcAft>
              <a:buNone/>
            </a:pPr>
            <a:r>
              <a:rPr lang="en" sz="1650">
                <a:solidFill>
                  <a:srgbClr val="000000"/>
                </a:solidFill>
              </a:rPr>
              <a:t>    </a:t>
            </a:r>
            <a:endParaRPr sz="1650">
              <a:solidFill>
                <a:srgbClr val="000000"/>
              </a:solidFill>
            </a:endParaRPr>
          </a:p>
          <a:p>
            <a:pPr indent="0" lvl="0" marL="0" rtl="0" algn="l">
              <a:spcBef>
                <a:spcPts val="1200"/>
              </a:spcBef>
              <a:spcAft>
                <a:spcPts val="0"/>
              </a:spcAft>
              <a:buNone/>
            </a:pPr>
            <a:r>
              <a:rPr lang="en" sz="1650">
                <a:solidFill>
                  <a:srgbClr val="000000"/>
                </a:solidFill>
              </a:rPr>
              <a:t>Instructions:</a:t>
            </a:r>
            <a:endParaRPr sz="1650">
              <a:solidFill>
                <a:srgbClr val="000000"/>
              </a:solidFill>
            </a:endParaRPr>
          </a:p>
          <a:p>
            <a:pPr indent="-333375" lvl="0" marL="457200" rtl="0" algn="l">
              <a:spcBef>
                <a:spcPts val="1200"/>
              </a:spcBef>
              <a:spcAft>
                <a:spcPts val="0"/>
              </a:spcAft>
              <a:buClr>
                <a:srgbClr val="000000"/>
              </a:buClr>
              <a:buSzPts val="1650"/>
              <a:buAutoNum type="arabicPeriod"/>
            </a:pPr>
            <a:r>
              <a:rPr lang="en" sz="1650">
                <a:solidFill>
                  <a:srgbClr val="000000"/>
                </a:solidFill>
              </a:rPr>
              <a:t>Analyze the three rewrites for common keywords and unique, high-value details (e.g., names, specific actions).</a:t>
            </a:r>
            <a:endParaRPr sz="1650">
              <a:solidFill>
                <a:srgbClr val="000000"/>
              </a:solidFill>
            </a:endParaRPr>
          </a:p>
          <a:p>
            <a:pPr indent="-333375" lvl="0" marL="457200" rtl="0" algn="l">
              <a:spcBef>
                <a:spcPts val="0"/>
              </a:spcBef>
              <a:spcAft>
                <a:spcPts val="0"/>
              </a:spcAft>
              <a:buClr>
                <a:srgbClr val="000000"/>
              </a:buClr>
              <a:buSzPts val="1650"/>
              <a:buAutoNum type="arabicPeriod"/>
            </a:pPr>
            <a:r>
              <a:rPr lang="en" sz="1650">
                <a:solidFill>
                  <a:srgbClr val="000000"/>
                </a:solidFill>
              </a:rPr>
              <a:t>Create a single, consolidated query that captures the maximum amount of relevant information.</a:t>
            </a:r>
            <a:endParaRPr sz="1650">
              <a:solidFill>
                <a:srgbClr val="000000"/>
              </a:solidFill>
            </a:endParaRPr>
          </a:p>
          <a:p>
            <a:pPr indent="-333375" lvl="0" marL="457200" rtl="0" algn="l">
              <a:spcBef>
                <a:spcPts val="0"/>
              </a:spcBef>
              <a:spcAft>
                <a:spcPts val="0"/>
              </a:spcAft>
              <a:buClr>
                <a:srgbClr val="000000"/>
              </a:buClr>
              <a:buSzPts val="1650"/>
              <a:buAutoNum type="arabicPeriod"/>
            </a:pPr>
            <a:r>
              <a:rPr lang="en" sz="1650">
                <a:solidFill>
                  <a:srgbClr val="000000"/>
                </a:solidFill>
              </a:rPr>
              <a:t>Keep it keyword-rich and concise.</a:t>
            </a:r>
            <a:endParaRPr sz="1650">
              <a:solidFill>
                <a:srgbClr val="000000"/>
              </a:solidFill>
            </a:endParaRPr>
          </a:p>
          <a:p>
            <a:pPr indent="-333375" lvl="0" marL="457200" rtl="0" algn="l">
              <a:spcBef>
                <a:spcPts val="0"/>
              </a:spcBef>
              <a:spcAft>
                <a:spcPts val="0"/>
              </a:spcAft>
              <a:buClr>
                <a:srgbClr val="000000"/>
              </a:buClr>
              <a:buSzPts val="1650"/>
              <a:buAutoNum type="arabicPeriod"/>
            </a:pPr>
            <a:r>
              <a:rPr lang="en" sz="1650">
                <a:solidFill>
                  <a:srgbClr val="000000"/>
                </a:solidFill>
              </a:rPr>
              <a:t>Output ONLY the final summarized query.</a:t>
            </a:r>
            <a:endParaRPr sz="1650">
              <a:solidFill>
                <a:srgbClr val="000000"/>
              </a:solidFill>
            </a:endParaRPr>
          </a:p>
        </p:txBody>
      </p:sp>
      <p:sp>
        <p:nvSpPr>
          <p:cNvPr id="147" name="Google Shape;147;p25"/>
          <p:cNvSpPr txBox="1"/>
          <p:nvPr/>
        </p:nvSpPr>
        <p:spPr>
          <a:xfrm>
            <a:off x="259825" y="3514500"/>
            <a:ext cx="2713500" cy="11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Roboto"/>
                <a:ea typeface="Roboto"/>
                <a:cs typeface="Roboto"/>
                <a:sym typeface="Roboto"/>
              </a:rPr>
              <a:t>Figure: </a:t>
            </a:r>
            <a:r>
              <a:rPr lang="en" sz="1300">
                <a:solidFill>
                  <a:schemeClr val="lt1"/>
                </a:solidFill>
                <a:latin typeface="Roboto"/>
                <a:ea typeface="Roboto"/>
                <a:cs typeface="Roboto"/>
                <a:sym typeface="Roboto"/>
              </a:rPr>
              <a:t>Prompt instructions for synthesizing a consensus query by fusing rewriter outputs and filtering hallucinations</a:t>
            </a:r>
            <a:endParaRPr sz="1300">
              <a:solidFill>
                <a:schemeClr val="lt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98250" y="16350"/>
            <a:ext cx="6651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en" sz="2160"/>
              <a:t>Reformulation Impact: Ranking Quality (nDCG@10)</a:t>
            </a:r>
            <a:endParaRPr b="1" sz="2160"/>
          </a:p>
        </p:txBody>
      </p:sp>
      <p:sp>
        <p:nvSpPr>
          <p:cNvPr id="153" name="Google Shape;153;p26"/>
          <p:cNvSpPr txBox="1"/>
          <p:nvPr/>
        </p:nvSpPr>
        <p:spPr>
          <a:xfrm>
            <a:off x="704250" y="4365000"/>
            <a:ext cx="7735500" cy="48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oboto"/>
                <a:ea typeface="Roboto"/>
                <a:cs typeface="Roboto"/>
                <a:sym typeface="Roboto"/>
              </a:rPr>
              <a:t>Figure: Comparative analysis of nDCG@10 scores across dataset splits. The significant lift over the baseline confirms that reformulation effectively restores ranking signal in ToT queries.</a:t>
            </a:r>
            <a:endParaRPr b="1" sz="1200">
              <a:latin typeface="Roboto"/>
              <a:ea typeface="Roboto"/>
              <a:cs typeface="Roboto"/>
              <a:sym typeface="Roboto"/>
            </a:endParaRPr>
          </a:p>
        </p:txBody>
      </p:sp>
      <p:pic>
        <p:nvPicPr>
          <p:cNvPr id="154" name="Google Shape;154;p26" title="nDCG10_collage_BM25_PL2.png"/>
          <p:cNvPicPr preferRelativeResize="0"/>
          <p:nvPr/>
        </p:nvPicPr>
        <p:blipFill>
          <a:blip r:embed="rId3">
            <a:alphaModFix/>
          </a:blip>
          <a:stretch>
            <a:fillRect/>
          </a:stretch>
        </p:blipFill>
        <p:spPr>
          <a:xfrm>
            <a:off x="152400" y="1203450"/>
            <a:ext cx="8839202" cy="29464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en" sz="2150"/>
              <a:t>Reformulation Impact: Retrieval Coverage (Recall@1000)</a:t>
            </a:r>
            <a:endParaRPr b="1" sz="2150"/>
          </a:p>
        </p:txBody>
      </p:sp>
      <p:pic>
        <p:nvPicPr>
          <p:cNvPr id="160" name="Google Shape;160;p27" title="R@1000_collage_BM25_PL2.png"/>
          <p:cNvPicPr preferRelativeResize="0"/>
          <p:nvPr/>
        </p:nvPicPr>
        <p:blipFill>
          <a:blip r:embed="rId3">
            <a:alphaModFix/>
          </a:blip>
          <a:stretch>
            <a:fillRect/>
          </a:stretch>
        </p:blipFill>
        <p:spPr>
          <a:xfrm>
            <a:off x="152400" y="1098550"/>
            <a:ext cx="8839202" cy="2946401"/>
          </a:xfrm>
          <a:prstGeom prst="rect">
            <a:avLst/>
          </a:prstGeom>
          <a:noFill/>
          <a:ln>
            <a:noFill/>
          </a:ln>
        </p:spPr>
      </p:pic>
      <p:sp>
        <p:nvSpPr>
          <p:cNvPr id="161" name="Google Shape;161;p27"/>
          <p:cNvSpPr txBox="1"/>
          <p:nvPr/>
        </p:nvSpPr>
        <p:spPr>
          <a:xfrm>
            <a:off x="704250" y="4243500"/>
            <a:ext cx="7735500" cy="48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oboto"/>
                <a:ea typeface="Roboto"/>
                <a:cs typeface="Roboto"/>
                <a:sym typeface="Roboto"/>
              </a:rPr>
              <a:t>Figure: </a:t>
            </a:r>
            <a:r>
              <a:rPr b="1" lang="en" sz="1200">
                <a:latin typeface="Roboto"/>
                <a:ea typeface="Roboto"/>
                <a:cs typeface="Roboto"/>
                <a:sym typeface="Roboto"/>
              </a:rPr>
              <a:t>Impact of reformulation on Recall@1000. High recall at this stage is critical to ensure the initial candidate pool contains the relevant documents for downstream re-ranking.</a:t>
            </a:r>
            <a:endParaRPr b="1" sz="1200">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50"/>
              <a:t>Optimal Strategy Selection: Performance vs. Cost</a:t>
            </a:r>
            <a:endParaRPr b="1" sz="2150"/>
          </a:p>
        </p:txBody>
      </p:sp>
      <p:sp>
        <p:nvSpPr>
          <p:cNvPr id="167" name="Google Shape;167;p28"/>
          <p:cNvSpPr txBox="1"/>
          <p:nvPr/>
        </p:nvSpPr>
        <p:spPr>
          <a:xfrm>
            <a:off x="461250" y="1057500"/>
            <a:ext cx="8221500" cy="39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Roboto"/>
                <a:ea typeface="Roboto"/>
                <a:cs typeface="Roboto"/>
                <a:sym typeface="Roboto"/>
              </a:rPr>
              <a:t>Performance Evaluation:</a:t>
            </a:r>
            <a:endParaRPr b="1">
              <a:latin typeface="Roboto"/>
              <a:ea typeface="Roboto"/>
              <a:cs typeface="Roboto"/>
              <a:sym typeface="Roboto"/>
            </a:endParaRPr>
          </a:p>
          <a:p>
            <a:pPr indent="-317500" lvl="0" marL="457200" rtl="0" algn="l">
              <a:lnSpc>
                <a:spcPct val="115000"/>
              </a:lnSpc>
              <a:spcBef>
                <a:spcPts val="1200"/>
              </a:spcBef>
              <a:spcAft>
                <a:spcPts val="0"/>
              </a:spcAft>
              <a:buSzPts val="1400"/>
              <a:buFont typeface="Roboto"/>
              <a:buChar char="●"/>
            </a:pPr>
            <a:r>
              <a:rPr lang="en">
                <a:latin typeface="Roboto"/>
                <a:ea typeface="Roboto"/>
                <a:cs typeface="Roboto"/>
                <a:sym typeface="Roboto"/>
              </a:rPr>
              <a:t>Tested across dataset splits using tuned BM25 and PL2 models.</a:t>
            </a:r>
            <a:endParaRPr>
              <a:latin typeface="Roboto"/>
              <a:ea typeface="Roboto"/>
              <a:cs typeface="Roboto"/>
              <a:sym typeface="Roboto"/>
            </a:endParaRPr>
          </a:p>
          <a:p>
            <a:pPr indent="-317500" lvl="0" marL="457200" rtl="0" algn="l">
              <a:lnSpc>
                <a:spcPct val="115000"/>
              </a:lnSpc>
              <a:spcBef>
                <a:spcPts val="0"/>
              </a:spcBef>
              <a:spcAft>
                <a:spcPts val="0"/>
              </a:spcAft>
              <a:buSzPts val="1400"/>
              <a:buChar char="●"/>
            </a:pPr>
            <a:r>
              <a:rPr b="1" lang="en">
                <a:latin typeface="Roboto"/>
                <a:ea typeface="Roboto"/>
                <a:cs typeface="Roboto"/>
                <a:sym typeface="Roboto"/>
              </a:rPr>
              <a:t>Observation:</a:t>
            </a:r>
            <a:r>
              <a:rPr lang="en">
                <a:latin typeface="Roboto"/>
                <a:ea typeface="Roboto"/>
                <a:cs typeface="Roboto"/>
                <a:sym typeface="Roboto"/>
              </a:rPr>
              <a:t> </a:t>
            </a:r>
            <a:r>
              <a:rPr b="1" lang="en">
                <a:latin typeface="Roboto"/>
                <a:ea typeface="Roboto"/>
                <a:cs typeface="Roboto"/>
                <a:sym typeface="Roboto"/>
              </a:rPr>
              <a:t>Mistral</a:t>
            </a:r>
            <a:r>
              <a:rPr lang="en">
                <a:latin typeface="Roboto"/>
                <a:ea typeface="Roboto"/>
                <a:cs typeface="Roboto"/>
                <a:sym typeface="Roboto"/>
              </a:rPr>
              <a:t> rewritten queries consistently achieved the highest Recall@1000 and nDCG@10 scores.</a:t>
            </a:r>
            <a:endParaRPr>
              <a:latin typeface="Roboto"/>
              <a:ea typeface="Roboto"/>
              <a:cs typeface="Roboto"/>
              <a:sym typeface="Roboto"/>
            </a:endParaRPr>
          </a:p>
          <a:p>
            <a:pPr indent="-317500" lvl="0" marL="457200" rtl="0" algn="l">
              <a:lnSpc>
                <a:spcPct val="115000"/>
              </a:lnSpc>
              <a:spcBef>
                <a:spcPts val="0"/>
              </a:spcBef>
              <a:spcAft>
                <a:spcPts val="0"/>
              </a:spcAft>
              <a:buSzPts val="1400"/>
              <a:buChar char="●"/>
            </a:pPr>
            <a:r>
              <a:rPr b="1" lang="en">
                <a:latin typeface="Roboto"/>
                <a:ea typeface="Roboto"/>
                <a:cs typeface="Roboto"/>
                <a:sym typeface="Roboto"/>
              </a:rPr>
              <a:t>Runner-up:</a:t>
            </a:r>
            <a:r>
              <a:rPr lang="en">
                <a:latin typeface="Roboto"/>
                <a:ea typeface="Roboto"/>
                <a:cs typeface="Roboto"/>
                <a:sym typeface="Roboto"/>
              </a:rPr>
              <a:t> The Summarized (Consensus) approach ranked second.</a:t>
            </a:r>
            <a:endParaRPr>
              <a:latin typeface="Roboto"/>
              <a:ea typeface="Roboto"/>
              <a:cs typeface="Roboto"/>
              <a:sym typeface="Roboto"/>
            </a:endParaRPr>
          </a:p>
          <a:p>
            <a:pPr indent="0" lvl="0" marL="0" rtl="0" algn="l">
              <a:lnSpc>
                <a:spcPct val="115000"/>
              </a:lnSpc>
              <a:spcBef>
                <a:spcPts val="1200"/>
              </a:spcBef>
              <a:spcAft>
                <a:spcPts val="0"/>
              </a:spcAft>
              <a:buNone/>
            </a:pPr>
            <a:r>
              <a:rPr b="1" lang="en">
                <a:latin typeface="Roboto"/>
                <a:ea typeface="Roboto"/>
                <a:cs typeface="Roboto"/>
                <a:sym typeface="Roboto"/>
              </a:rPr>
              <a:t>Strategic Decision:</a:t>
            </a:r>
            <a:endParaRPr b="1">
              <a:latin typeface="Roboto"/>
              <a:ea typeface="Roboto"/>
              <a:cs typeface="Roboto"/>
              <a:sym typeface="Roboto"/>
            </a:endParaRPr>
          </a:p>
          <a:p>
            <a:pPr indent="-317500" lvl="0" marL="457200" rtl="0" algn="l">
              <a:lnSpc>
                <a:spcPct val="115000"/>
              </a:lnSpc>
              <a:spcBef>
                <a:spcPts val="1200"/>
              </a:spcBef>
              <a:spcAft>
                <a:spcPts val="0"/>
              </a:spcAft>
              <a:buSzPts val="1400"/>
              <a:buChar char="●"/>
            </a:pPr>
            <a:r>
              <a:rPr lang="en">
                <a:latin typeface="Roboto"/>
                <a:ea typeface="Roboto"/>
                <a:cs typeface="Roboto"/>
                <a:sym typeface="Roboto"/>
              </a:rPr>
              <a:t>We proceeded downstream using </a:t>
            </a:r>
            <a:r>
              <a:rPr b="1" lang="en">
                <a:latin typeface="Roboto"/>
                <a:ea typeface="Roboto"/>
                <a:cs typeface="Roboto"/>
                <a:sym typeface="Roboto"/>
              </a:rPr>
              <a:t>Mistral Rewritten Queries</a:t>
            </a:r>
            <a:r>
              <a:rPr lang="en">
                <a:latin typeface="Roboto"/>
                <a:ea typeface="Roboto"/>
                <a:cs typeface="Roboto"/>
                <a:sym typeface="Roboto"/>
              </a:rPr>
              <a:t> exclusively.</a:t>
            </a:r>
            <a:endParaRPr>
              <a:latin typeface="Roboto"/>
              <a:ea typeface="Roboto"/>
              <a:cs typeface="Roboto"/>
              <a:sym typeface="Roboto"/>
            </a:endParaRPr>
          </a:p>
          <a:p>
            <a:pPr indent="0" lvl="0" marL="0" rtl="0" algn="l">
              <a:lnSpc>
                <a:spcPct val="115000"/>
              </a:lnSpc>
              <a:spcBef>
                <a:spcPts val="1200"/>
              </a:spcBef>
              <a:spcAft>
                <a:spcPts val="0"/>
              </a:spcAft>
              <a:buNone/>
            </a:pPr>
            <a:r>
              <a:rPr b="1" lang="en">
                <a:latin typeface="Roboto"/>
                <a:ea typeface="Roboto"/>
                <a:cs typeface="Roboto"/>
                <a:sym typeface="Roboto"/>
              </a:rPr>
              <a:t>Rationale (Efficiency):</a:t>
            </a:r>
            <a:endParaRPr b="1">
              <a:latin typeface="Roboto"/>
              <a:ea typeface="Roboto"/>
              <a:cs typeface="Roboto"/>
              <a:sym typeface="Roboto"/>
            </a:endParaRPr>
          </a:p>
          <a:p>
            <a:pPr indent="-317500" lvl="0" marL="457200" rtl="0" algn="l">
              <a:lnSpc>
                <a:spcPct val="115000"/>
              </a:lnSpc>
              <a:spcBef>
                <a:spcPts val="1200"/>
              </a:spcBef>
              <a:spcAft>
                <a:spcPts val="0"/>
              </a:spcAft>
              <a:buSzPts val="1400"/>
              <a:buChar char="●"/>
            </a:pPr>
            <a:r>
              <a:rPr lang="en">
                <a:latin typeface="Roboto"/>
                <a:ea typeface="Roboto"/>
                <a:cs typeface="Roboto"/>
                <a:sym typeface="Roboto"/>
              </a:rPr>
              <a:t>The Summarizer is computationally expensive, requiring </a:t>
            </a:r>
            <a:r>
              <a:rPr b="1" lang="en">
                <a:latin typeface="Roboto"/>
                <a:ea typeface="Roboto"/>
                <a:cs typeface="Roboto"/>
                <a:sym typeface="Roboto"/>
              </a:rPr>
              <a:t>4 LLM prompts per query</a:t>
            </a:r>
            <a:r>
              <a:rPr lang="en">
                <a:latin typeface="Roboto"/>
                <a:ea typeface="Roboto"/>
                <a:cs typeface="Roboto"/>
                <a:sym typeface="Roboto"/>
              </a:rPr>
              <a:t> (3 rewriters + 1 summarizer).</a:t>
            </a:r>
            <a:endParaRPr>
              <a:latin typeface="Roboto"/>
              <a:ea typeface="Roboto"/>
              <a:cs typeface="Roboto"/>
              <a:sym typeface="Roboto"/>
            </a:endParaRPr>
          </a:p>
          <a:p>
            <a:pPr indent="-317500" lvl="0" marL="457200" rtl="0" algn="l">
              <a:lnSpc>
                <a:spcPct val="115000"/>
              </a:lnSpc>
              <a:spcBef>
                <a:spcPts val="0"/>
              </a:spcBef>
              <a:spcAft>
                <a:spcPts val="0"/>
              </a:spcAft>
              <a:buSzPts val="1400"/>
              <a:buFont typeface="Roboto"/>
              <a:buChar char="●"/>
            </a:pPr>
            <a:r>
              <a:rPr lang="en">
                <a:latin typeface="Roboto"/>
                <a:ea typeface="Roboto"/>
                <a:cs typeface="Roboto"/>
                <a:sym typeface="Roboto"/>
              </a:rPr>
              <a:t>Mistral offers superior metrics with significantly lower latency and compute cost.</a:t>
            </a:r>
            <a:endParaRPr>
              <a:solidFill>
                <a:schemeClr val="lt2"/>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50"/>
              <a:t>Optimal Strategy Selection: Performance vs. Cost</a:t>
            </a:r>
            <a:endParaRPr b="1" sz="2150"/>
          </a:p>
        </p:txBody>
      </p:sp>
      <p:pic>
        <p:nvPicPr>
          <p:cNvPr id="173" name="Google Shape;173;p29" title="rewriter_comparison_percent_jump.png"/>
          <p:cNvPicPr preferRelativeResize="0"/>
          <p:nvPr/>
        </p:nvPicPr>
        <p:blipFill>
          <a:blip r:embed="rId3">
            <a:alphaModFix/>
          </a:blip>
          <a:stretch>
            <a:fillRect/>
          </a:stretch>
        </p:blipFill>
        <p:spPr>
          <a:xfrm>
            <a:off x="393325" y="744450"/>
            <a:ext cx="6751440" cy="4219650"/>
          </a:xfrm>
          <a:prstGeom prst="rect">
            <a:avLst/>
          </a:prstGeom>
          <a:noFill/>
          <a:ln>
            <a:noFill/>
          </a:ln>
        </p:spPr>
      </p:pic>
      <p:sp>
        <p:nvSpPr>
          <p:cNvPr id="174" name="Google Shape;174;p29"/>
          <p:cNvSpPr txBox="1"/>
          <p:nvPr/>
        </p:nvSpPr>
        <p:spPr>
          <a:xfrm>
            <a:off x="7357500" y="1659525"/>
            <a:ext cx="1460400" cy="274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oboto"/>
                <a:ea typeface="Roboto"/>
                <a:cs typeface="Roboto"/>
                <a:sym typeface="Roboto"/>
              </a:rPr>
              <a:t>Figure: </a:t>
            </a:r>
            <a:endParaRPr b="1" sz="1200">
              <a:latin typeface="Roboto"/>
              <a:ea typeface="Roboto"/>
              <a:cs typeface="Roboto"/>
              <a:sym typeface="Roboto"/>
            </a:endParaRPr>
          </a:p>
          <a:p>
            <a:pPr indent="0" lvl="0" marL="0" rtl="0" algn="ctr">
              <a:spcBef>
                <a:spcPts val="0"/>
              </a:spcBef>
              <a:spcAft>
                <a:spcPts val="0"/>
              </a:spcAft>
              <a:buNone/>
            </a:pPr>
            <a:r>
              <a:rPr b="1" lang="en" sz="1200">
                <a:latin typeface="Roboto"/>
                <a:ea typeface="Roboto"/>
                <a:cs typeface="Roboto"/>
                <a:sym typeface="Roboto"/>
              </a:rPr>
              <a:t>Quantifying the "Reformulation Lift": Mistral-rewritten queries show massive gains over the original baseline across both sparse (BM25 and PL2) retrieval models.</a:t>
            </a:r>
            <a:endParaRPr b="1" sz="1200">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50"/>
              <a:t>Four Stage Retrieval Pipeline to Iteratively Refine Results</a:t>
            </a:r>
            <a:endParaRPr b="1" sz="2150"/>
          </a:p>
        </p:txBody>
      </p:sp>
      <p:grpSp>
        <p:nvGrpSpPr>
          <p:cNvPr id="180" name="Google Shape;180;p30"/>
          <p:cNvGrpSpPr/>
          <p:nvPr/>
        </p:nvGrpSpPr>
        <p:grpSpPr>
          <a:xfrm>
            <a:off x="1979336" y="908560"/>
            <a:ext cx="5064431" cy="3874977"/>
            <a:chOff x="2068883" y="962540"/>
            <a:chExt cx="4206338" cy="3218419"/>
          </a:xfrm>
        </p:grpSpPr>
        <p:sp>
          <p:nvSpPr>
            <p:cNvPr id="181" name="Google Shape;181;p30"/>
            <p:cNvSpPr/>
            <p:nvPr/>
          </p:nvSpPr>
          <p:spPr>
            <a:xfrm>
              <a:off x="2068883" y="3378460"/>
              <a:ext cx="804600" cy="800400"/>
            </a:xfrm>
            <a:prstGeom prst="roundRect">
              <a:avLst>
                <a:gd fmla="val 16667" name="adj"/>
              </a:avLst>
            </a:prstGeom>
            <a:solidFill>
              <a:srgbClr val="FFFFFF"/>
            </a:solidFill>
            <a:ln cap="flat" cmpd="sng" w="11475">
              <a:solidFill>
                <a:srgbClr val="000000"/>
              </a:solidFill>
              <a:prstDash val="solid"/>
              <a:round/>
              <a:headEnd len="sm" w="sm" type="none"/>
              <a:tailEnd len="sm" w="sm" type="none"/>
            </a:ln>
          </p:spPr>
          <p:txBody>
            <a:bodyPr anchorCtr="0" anchor="ctr" bIns="110075" lIns="110075" spcFirstLastPara="1" rIns="110075" wrap="square" tIns="110075">
              <a:noAutofit/>
            </a:bodyPr>
            <a:lstStyle/>
            <a:p>
              <a:pPr indent="0" lvl="0" marL="0" rtl="0" algn="l">
                <a:lnSpc>
                  <a:spcPct val="80000"/>
                </a:lnSpc>
                <a:spcBef>
                  <a:spcPts val="0"/>
                </a:spcBef>
                <a:spcAft>
                  <a:spcPts val="0"/>
                </a:spcAft>
                <a:buNone/>
              </a:pPr>
              <a:r>
                <a:t/>
              </a:r>
              <a:endParaRPr sz="1685">
                <a:solidFill>
                  <a:schemeClr val="dk1"/>
                </a:solidFill>
              </a:endParaRPr>
            </a:p>
          </p:txBody>
        </p:sp>
        <p:sp>
          <p:nvSpPr>
            <p:cNvPr id="182" name="Google Shape;182;p30"/>
            <p:cNvSpPr/>
            <p:nvPr/>
          </p:nvSpPr>
          <p:spPr>
            <a:xfrm>
              <a:off x="2879221" y="3376360"/>
              <a:ext cx="3396000" cy="804600"/>
            </a:xfrm>
            <a:prstGeom prst="roundRect">
              <a:avLst>
                <a:gd fmla="val 50000" name="adj"/>
              </a:avLst>
            </a:prstGeom>
            <a:solidFill>
              <a:srgbClr val="E8F4FF"/>
            </a:solidFill>
            <a:ln cap="flat" cmpd="sng" w="11475">
              <a:solidFill>
                <a:srgbClr val="000000"/>
              </a:solidFill>
              <a:prstDash val="solid"/>
              <a:round/>
              <a:headEnd len="sm" w="sm" type="none"/>
              <a:tailEnd len="sm" w="sm" type="none"/>
            </a:ln>
          </p:spPr>
          <p:txBody>
            <a:bodyPr anchorCtr="0" anchor="ctr" bIns="143100" lIns="220175" spcFirstLastPara="1" rIns="220175" wrap="square" tIns="143100">
              <a:noAutofit/>
            </a:bodyPr>
            <a:lstStyle/>
            <a:p>
              <a:pPr indent="0" lvl="0" marL="0" rtl="0" algn="l">
                <a:lnSpc>
                  <a:spcPct val="115000"/>
                </a:lnSpc>
                <a:spcBef>
                  <a:spcPts val="0"/>
                </a:spcBef>
                <a:spcAft>
                  <a:spcPts val="0"/>
                </a:spcAft>
                <a:buNone/>
              </a:pPr>
              <a:r>
                <a:rPr b="1" lang="en" sz="1144">
                  <a:solidFill>
                    <a:srgbClr val="010101"/>
                  </a:solidFill>
                  <a:latin typeface="IBM Plex Sans"/>
                  <a:ea typeface="IBM Plex Sans"/>
                  <a:cs typeface="IBM Plex Sans"/>
                  <a:sym typeface="IBM Plex Sans"/>
                </a:rPr>
                <a:t>List-wise LLM Re-ranker:</a:t>
              </a:r>
              <a:r>
                <a:rPr lang="en" sz="1144">
                  <a:solidFill>
                    <a:srgbClr val="010101"/>
                  </a:solidFill>
                  <a:latin typeface="IBM Plex Sans"/>
                  <a:ea typeface="IBM Plex Sans"/>
                  <a:cs typeface="IBM Plex Sans"/>
                  <a:sym typeface="IBM Plex Sans"/>
                </a:rPr>
                <a:t> Utilizing specific LLM capabilities to resolve final ambiguities and order the top results based on world knowledge and complex intent understanding.</a:t>
              </a:r>
              <a:endParaRPr sz="1144">
                <a:solidFill>
                  <a:srgbClr val="010101"/>
                </a:solidFill>
                <a:latin typeface="IBM Plex Sans"/>
                <a:ea typeface="IBM Plex Sans"/>
                <a:cs typeface="IBM Plex Sans"/>
                <a:sym typeface="IBM Plex Sans"/>
              </a:endParaRPr>
            </a:p>
          </p:txBody>
        </p:sp>
        <p:sp>
          <p:nvSpPr>
            <p:cNvPr id="183" name="Google Shape;183;p30"/>
            <p:cNvSpPr txBox="1"/>
            <p:nvPr/>
          </p:nvSpPr>
          <p:spPr>
            <a:xfrm>
              <a:off x="2068883" y="3376660"/>
              <a:ext cx="804600" cy="804000"/>
            </a:xfrm>
            <a:prstGeom prst="rect">
              <a:avLst/>
            </a:prstGeom>
            <a:noFill/>
            <a:ln>
              <a:noFill/>
            </a:ln>
          </p:spPr>
          <p:txBody>
            <a:bodyPr anchorCtr="0" anchor="ctr" bIns="110075" lIns="110075" spcFirstLastPara="1" rIns="110075" wrap="square" tIns="110075">
              <a:noAutofit/>
            </a:bodyPr>
            <a:lstStyle/>
            <a:p>
              <a:pPr indent="0" lvl="0" marL="0" rtl="0" algn="ctr">
                <a:lnSpc>
                  <a:spcPct val="90000"/>
                </a:lnSpc>
                <a:spcBef>
                  <a:spcPts val="0"/>
                </a:spcBef>
                <a:spcAft>
                  <a:spcPts val="0"/>
                </a:spcAft>
                <a:buNone/>
              </a:pPr>
              <a:r>
                <a:rPr lang="en" sz="1444">
                  <a:latin typeface="IBM Plex Sans"/>
                  <a:ea typeface="IBM Plex Sans"/>
                  <a:cs typeface="IBM Plex Sans"/>
                  <a:sym typeface="IBM Plex Sans"/>
                </a:rPr>
                <a:t>STAGE</a:t>
              </a:r>
              <a:endParaRPr sz="1444">
                <a:latin typeface="IBM Plex Sans"/>
                <a:ea typeface="IBM Plex Sans"/>
                <a:cs typeface="IBM Plex Sans"/>
                <a:sym typeface="IBM Plex Sans"/>
              </a:endParaRPr>
            </a:p>
            <a:p>
              <a:pPr indent="0" lvl="0" marL="0" rtl="0" algn="ctr">
                <a:lnSpc>
                  <a:spcPct val="90000"/>
                </a:lnSpc>
                <a:spcBef>
                  <a:spcPts val="0"/>
                </a:spcBef>
                <a:spcAft>
                  <a:spcPts val="0"/>
                </a:spcAft>
                <a:buNone/>
              </a:pPr>
              <a:r>
                <a:rPr lang="en" sz="3973">
                  <a:latin typeface="IBM Plex Sans"/>
                  <a:ea typeface="IBM Plex Sans"/>
                  <a:cs typeface="IBM Plex Sans"/>
                  <a:sym typeface="IBM Plex Sans"/>
                </a:rPr>
                <a:t>04</a:t>
              </a:r>
              <a:endParaRPr sz="3973">
                <a:latin typeface="IBM Plex Sans"/>
                <a:ea typeface="IBM Plex Sans"/>
                <a:cs typeface="IBM Plex Sans"/>
                <a:sym typeface="IBM Plex Sans"/>
              </a:endParaRPr>
            </a:p>
          </p:txBody>
        </p:sp>
        <p:sp>
          <p:nvSpPr>
            <p:cNvPr id="184" name="Google Shape;184;p30"/>
            <p:cNvSpPr/>
            <p:nvPr/>
          </p:nvSpPr>
          <p:spPr>
            <a:xfrm>
              <a:off x="2068883" y="2572503"/>
              <a:ext cx="804600" cy="803100"/>
            </a:xfrm>
            <a:prstGeom prst="roundRect">
              <a:avLst>
                <a:gd fmla="val 16667" name="adj"/>
              </a:avLst>
            </a:prstGeom>
            <a:solidFill>
              <a:srgbClr val="FFFFFF"/>
            </a:solidFill>
            <a:ln cap="flat" cmpd="sng" w="11475">
              <a:solidFill>
                <a:srgbClr val="000000"/>
              </a:solidFill>
              <a:prstDash val="solid"/>
              <a:round/>
              <a:headEnd len="sm" w="sm" type="none"/>
              <a:tailEnd len="sm" w="sm" type="none"/>
            </a:ln>
          </p:spPr>
          <p:txBody>
            <a:bodyPr anchorCtr="0" anchor="ctr" bIns="110075" lIns="110075" spcFirstLastPara="1" rIns="110075" wrap="square" tIns="110075">
              <a:noAutofit/>
            </a:bodyPr>
            <a:lstStyle/>
            <a:p>
              <a:pPr indent="0" lvl="0" marL="0" rtl="0" algn="l">
                <a:lnSpc>
                  <a:spcPct val="80000"/>
                </a:lnSpc>
                <a:spcBef>
                  <a:spcPts val="0"/>
                </a:spcBef>
                <a:spcAft>
                  <a:spcPts val="0"/>
                </a:spcAft>
                <a:buNone/>
              </a:pPr>
              <a:r>
                <a:t/>
              </a:r>
              <a:endParaRPr sz="1685">
                <a:solidFill>
                  <a:schemeClr val="dk1"/>
                </a:solidFill>
              </a:endParaRPr>
            </a:p>
          </p:txBody>
        </p:sp>
        <p:sp>
          <p:nvSpPr>
            <p:cNvPr id="185" name="Google Shape;185;p30"/>
            <p:cNvSpPr/>
            <p:nvPr/>
          </p:nvSpPr>
          <p:spPr>
            <a:xfrm>
              <a:off x="2879221" y="2571753"/>
              <a:ext cx="3396000" cy="804600"/>
            </a:xfrm>
            <a:prstGeom prst="roundRect">
              <a:avLst>
                <a:gd fmla="val 50000" name="adj"/>
              </a:avLst>
            </a:prstGeom>
            <a:solidFill>
              <a:srgbClr val="E8F4FF"/>
            </a:solidFill>
            <a:ln cap="flat" cmpd="sng" w="11475">
              <a:solidFill>
                <a:srgbClr val="000000"/>
              </a:solidFill>
              <a:prstDash val="solid"/>
              <a:round/>
              <a:headEnd len="sm" w="sm" type="none"/>
              <a:tailEnd len="sm" w="sm" type="none"/>
            </a:ln>
          </p:spPr>
          <p:txBody>
            <a:bodyPr anchorCtr="0" anchor="ctr" bIns="143100" lIns="220175" spcFirstLastPara="1" rIns="220175" wrap="square" tIns="143100">
              <a:noAutofit/>
            </a:bodyPr>
            <a:lstStyle/>
            <a:p>
              <a:pPr indent="0" lvl="0" marL="0" rtl="0" algn="l">
                <a:lnSpc>
                  <a:spcPct val="115000"/>
                </a:lnSpc>
                <a:spcBef>
                  <a:spcPts val="0"/>
                </a:spcBef>
                <a:spcAft>
                  <a:spcPts val="0"/>
                </a:spcAft>
                <a:buNone/>
              </a:pPr>
              <a:r>
                <a:rPr b="1" lang="en" sz="1144">
                  <a:solidFill>
                    <a:srgbClr val="010101"/>
                  </a:solidFill>
                  <a:latin typeface="IBM Plex Sans"/>
                  <a:ea typeface="IBM Plex Sans"/>
                  <a:cs typeface="IBM Plex Sans"/>
                  <a:sym typeface="IBM Plex Sans"/>
                </a:rPr>
                <a:t>Cross-encoder Re-ranker:</a:t>
              </a:r>
              <a:r>
                <a:rPr lang="en" sz="1144">
                  <a:solidFill>
                    <a:srgbClr val="010101"/>
                  </a:solidFill>
                  <a:latin typeface="IBM Plex Sans"/>
                  <a:ea typeface="IBM Plex Sans"/>
                  <a:cs typeface="IBM Plex Sans"/>
                  <a:sym typeface="IBM Plex Sans"/>
                </a:rPr>
                <a:t> Evaluating the specific query-document pairs with high precision to filter out non-relevant documents before the final stage.</a:t>
              </a:r>
              <a:endParaRPr sz="1144">
                <a:solidFill>
                  <a:srgbClr val="010101"/>
                </a:solidFill>
                <a:latin typeface="IBM Plex Sans"/>
                <a:ea typeface="IBM Plex Sans"/>
                <a:cs typeface="IBM Plex Sans"/>
                <a:sym typeface="IBM Plex Sans"/>
              </a:endParaRPr>
            </a:p>
          </p:txBody>
        </p:sp>
        <p:sp>
          <p:nvSpPr>
            <p:cNvPr id="186" name="Google Shape;186;p30"/>
            <p:cNvSpPr txBox="1"/>
            <p:nvPr/>
          </p:nvSpPr>
          <p:spPr>
            <a:xfrm>
              <a:off x="2068883" y="2572053"/>
              <a:ext cx="804600" cy="804000"/>
            </a:xfrm>
            <a:prstGeom prst="rect">
              <a:avLst/>
            </a:prstGeom>
            <a:noFill/>
            <a:ln>
              <a:noFill/>
            </a:ln>
          </p:spPr>
          <p:txBody>
            <a:bodyPr anchorCtr="0" anchor="ctr" bIns="110075" lIns="110075" spcFirstLastPara="1" rIns="110075" wrap="square" tIns="110075">
              <a:noAutofit/>
            </a:bodyPr>
            <a:lstStyle/>
            <a:p>
              <a:pPr indent="0" lvl="0" marL="0" rtl="0" algn="ctr">
                <a:lnSpc>
                  <a:spcPct val="90000"/>
                </a:lnSpc>
                <a:spcBef>
                  <a:spcPts val="0"/>
                </a:spcBef>
                <a:spcAft>
                  <a:spcPts val="0"/>
                </a:spcAft>
                <a:buNone/>
              </a:pPr>
              <a:r>
                <a:rPr lang="en" sz="1444">
                  <a:latin typeface="IBM Plex Sans"/>
                  <a:ea typeface="IBM Plex Sans"/>
                  <a:cs typeface="IBM Plex Sans"/>
                  <a:sym typeface="IBM Plex Sans"/>
                </a:rPr>
                <a:t>STAGE</a:t>
              </a:r>
              <a:endParaRPr sz="1444">
                <a:latin typeface="IBM Plex Sans"/>
                <a:ea typeface="IBM Plex Sans"/>
                <a:cs typeface="IBM Plex Sans"/>
                <a:sym typeface="IBM Plex Sans"/>
              </a:endParaRPr>
            </a:p>
            <a:p>
              <a:pPr indent="0" lvl="0" marL="0" rtl="0" algn="ctr">
                <a:lnSpc>
                  <a:spcPct val="90000"/>
                </a:lnSpc>
                <a:spcBef>
                  <a:spcPts val="0"/>
                </a:spcBef>
                <a:spcAft>
                  <a:spcPts val="0"/>
                </a:spcAft>
                <a:buNone/>
              </a:pPr>
              <a:r>
                <a:rPr lang="en" sz="3973">
                  <a:latin typeface="IBM Plex Sans"/>
                  <a:ea typeface="IBM Plex Sans"/>
                  <a:cs typeface="IBM Plex Sans"/>
                  <a:sym typeface="IBM Plex Sans"/>
                </a:rPr>
                <a:t>03</a:t>
              </a:r>
              <a:endParaRPr sz="3973">
                <a:latin typeface="IBM Plex Sans"/>
                <a:ea typeface="IBM Plex Sans"/>
                <a:cs typeface="IBM Plex Sans"/>
                <a:sym typeface="IBM Plex Sans"/>
              </a:endParaRPr>
            </a:p>
          </p:txBody>
        </p:sp>
        <p:sp>
          <p:nvSpPr>
            <p:cNvPr id="187" name="Google Shape;187;p30"/>
            <p:cNvSpPr/>
            <p:nvPr/>
          </p:nvSpPr>
          <p:spPr>
            <a:xfrm>
              <a:off x="2068883" y="1767147"/>
              <a:ext cx="804600" cy="804600"/>
            </a:xfrm>
            <a:prstGeom prst="roundRect">
              <a:avLst>
                <a:gd fmla="val 16667" name="adj"/>
              </a:avLst>
            </a:prstGeom>
            <a:solidFill>
              <a:srgbClr val="FFFFFF"/>
            </a:solidFill>
            <a:ln cap="flat" cmpd="sng" w="11475">
              <a:solidFill>
                <a:srgbClr val="000000"/>
              </a:solidFill>
              <a:prstDash val="solid"/>
              <a:round/>
              <a:headEnd len="sm" w="sm" type="none"/>
              <a:tailEnd len="sm" w="sm" type="none"/>
            </a:ln>
          </p:spPr>
          <p:txBody>
            <a:bodyPr anchorCtr="0" anchor="ctr" bIns="110075" lIns="110075" spcFirstLastPara="1" rIns="110075" wrap="square" tIns="110075">
              <a:noAutofit/>
            </a:bodyPr>
            <a:lstStyle/>
            <a:p>
              <a:pPr indent="0" lvl="0" marL="0" rtl="0" algn="l">
                <a:lnSpc>
                  <a:spcPct val="80000"/>
                </a:lnSpc>
                <a:spcBef>
                  <a:spcPts val="0"/>
                </a:spcBef>
                <a:spcAft>
                  <a:spcPts val="0"/>
                </a:spcAft>
                <a:buNone/>
              </a:pPr>
              <a:r>
                <a:t/>
              </a:r>
              <a:endParaRPr sz="1685">
                <a:solidFill>
                  <a:schemeClr val="dk1"/>
                </a:solidFill>
              </a:endParaRPr>
            </a:p>
          </p:txBody>
        </p:sp>
        <p:sp>
          <p:nvSpPr>
            <p:cNvPr id="188" name="Google Shape;188;p30"/>
            <p:cNvSpPr/>
            <p:nvPr/>
          </p:nvSpPr>
          <p:spPr>
            <a:xfrm>
              <a:off x="2879221" y="1767147"/>
              <a:ext cx="3396000" cy="804600"/>
            </a:xfrm>
            <a:prstGeom prst="roundRect">
              <a:avLst>
                <a:gd fmla="val 50000" name="adj"/>
              </a:avLst>
            </a:prstGeom>
            <a:solidFill>
              <a:srgbClr val="E8F4FF"/>
            </a:solidFill>
            <a:ln cap="flat" cmpd="sng" w="11475">
              <a:solidFill>
                <a:srgbClr val="000000"/>
              </a:solidFill>
              <a:prstDash val="solid"/>
              <a:round/>
              <a:headEnd len="sm" w="sm" type="none"/>
              <a:tailEnd len="sm" w="sm" type="none"/>
            </a:ln>
          </p:spPr>
          <p:txBody>
            <a:bodyPr anchorCtr="0" anchor="ctr" bIns="143100" lIns="220175" spcFirstLastPara="1" rIns="220175" wrap="square" tIns="143100">
              <a:noAutofit/>
            </a:bodyPr>
            <a:lstStyle/>
            <a:p>
              <a:pPr indent="0" lvl="0" marL="0" rtl="0" algn="l">
                <a:lnSpc>
                  <a:spcPct val="115000"/>
                </a:lnSpc>
                <a:spcBef>
                  <a:spcPts val="0"/>
                </a:spcBef>
                <a:spcAft>
                  <a:spcPts val="0"/>
                </a:spcAft>
                <a:buNone/>
              </a:pPr>
              <a:r>
                <a:t/>
              </a:r>
              <a:endParaRPr sz="1144">
                <a:solidFill>
                  <a:srgbClr val="010101"/>
                </a:solidFill>
                <a:latin typeface="IBM Plex Sans"/>
                <a:ea typeface="IBM Plex Sans"/>
                <a:cs typeface="IBM Plex Sans"/>
                <a:sym typeface="IBM Plex Sans"/>
              </a:endParaRPr>
            </a:p>
            <a:p>
              <a:pPr indent="0" lvl="0" marL="0" rtl="0" algn="l">
                <a:lnSpc>
                  <a:spcPct val="115000"/>
                </a:lnSpc>
                <a:spcBef>
                  <a:spcPts val="0"/>
                </a:spcBef>
                <a:spcAft>
                  <a:spcPts val="0"/>
                </a:spcAft>
                <a:buNone/>
              </a:pPr>
              <a:r>
                <a:rPr b="1" lang="en" sz="1144">
                  <a:solidFill>
                    <a:srgbClr val="010101"/>
                  </a:solidFill>
                  <a:latin typeface="IBM Plex Sans"/>
                  <a:ea typeface="IBM Plex Sans"/>
                  <a:cs typeface="IBM Plex Sans"/>
                  <a:sym typeface="IBM Plex Sans"/>
                </a:rPr>
                <a:t>Bi-encoder Ensemble:</a:t>
              </a:r>
              <a:r>
                <a:rPr lang="en" sz="1144">
                  <a:solidFill>
                    <a:srgbClr val="010101"/>
                  </a:solidFill>
                  <a:latin typeface="IBM Plex Sans"/>
                  <a:ea typeface="IBM Plex Sans"/>
                  <a:cs typeface="IBM Plex Sans"/>
                  <a:sym typeface="IBM Plex Sans"/>
                </a:rPr>
                <a:t> Semantic re-ranking of the initial pool to capture context and meaning that keyword matching missed. Addressing the "vocabulary mismatch" problem.</a:t>
              </a:r>
              <a:endParaRPr sz="1144">
                <a:solidFill>
                  <a:srgbClr val="010101"/>
                </a:solidFill>
                <a:latin typeface="IBM Plex Sans"/>
                <a:ea typeface="IBM Plex Sans"/>
                <a:cs typeface="IBM Plex Sans"/>
                <a:sym typeface="IBM Plex Sans"/>
              </a:endParaRPr>
            </a:p>
            <a:p>
              <a:pPr indent="0" lvl="0" marL="0" rtl="0" algn="l">
                <a:lnSpc>
                  <a:spcPct val="115000"/>
                </a:lnSpc>
                <a:spcBef>
                  <a:spcPts val="0"/>
                </a:spcBef>
                <a:spcAft>
                  <a:spcPts val="0"/>
                </a:spcAft>
                <a:buNone/>
              </a:pPr>
              <a:r>
                <a:t/>
              </a:r>
              <a:endParaRPr sz="1144">
                <a:solidFill>
                  <a:srgbClr val="010101"/>
                </a:solidFill>
                <a:latin typeface="IBM Plex Sans"/>
                <a:ea typeface="IBM Plex Sans"/>
                <a:cs typeface="IBM Plex Sans"/>
                <a:sym typeface="IBM Plex Sans"/>
              </a:endParaRPr>
            </a:p>
          </p:txBody>
        </p:sp>
        <p:sp>
          <p:nvSpPr>
            <p:cNvPr id="189" name="Google Shape;189;p30"/>
            <p:cNvSpPr txBox="1"/>
            <p:nvPr/>
          </p:nvSpPr>
          <p:spPr>
            <a:xfrm>
              <a:off x="2068883" y="1767447"/>
              <a:ext cx="804600" cy="804000"/>
            </a:xfrm>
            <a:prstGeom prst="rect">
              <a:avLst/>
            </a:prstGeom>
            <a:noFill/>
            <a:ln>
              <a:noFill/>
            </a:ln>
          </p:spPr>
          <p:txBody>
            <a:bodyPr anchorCtr="0" anchor="ctr" bIns="110075" lIns="110075" spcFirstLastPara="1" rIns="110075" wrap="square" tIns="110075">
              <a:noAutofit/>
            </a:bodyPr>
            <a:lstStyle/>
            <a:p>
              <a:pPr indent="0" lvl="0" marL="0" rtl="0" algn="ctr">
                <a:lnSpc>
                  <a:spcPct val="90000"/>
                </a:lnSpc>
                <a:spcBef>
                  <a:spcPts val="0"/>
                </a:spcBef>
                <a:spcAft>
                  <a:spcPts val="0"/>
                </a:spcAft>
                <a:buNone/>
              </a:pPr>
              <a:r>
                <a:rPr lang="en" sz="1444">
                  <a:latin typeface="IBM Plex Sans"/>
                  <a:ea typeface="IBM Plex Sans"/>
                  <a:cs typeface="IBM Plex Sans"/>
                  <a:sym typeface="IBM Plex Sans"/>
                </a:rPr>
                <a:t>STAGE</a:t>
              </a:r>
              <a:endParaRPr sz="1444">
                <a:latin typeface="IBM Plex Sans"/>
                <a:ea typeface="IBM Plex Sans"/>
                <a:cs typeface="IBM Plex Sans"/>
                <a:sym typeface="IBM Plex Sans"/>
              </a:endParaRPr>
            </a:p>
            <a:p>
              <a:pPr indent="0" lvl="0" marL="0" rtl="0" algn="ctr">
                <a:lnSpc>
                  <a:spcPct val="90000"/>
                </a:lnSpc>
                <a:spcBef>
                  <a:spcPts val="0"/>
                </a:spcBef>
                <a:spcAft>
                  <a:spcPts val="0"/>
                </a:spcAft>
                <a:buNone/>
              </a:pPr>
              <a:r>
                <a:rPr lang="en" sz="3973">
                  <a:latin typeface="IBM Plex Sans"/>
                  <a:ea typeface="IBM Plex Sans"/>
                  <a:cs typeface="IBM Plex Sans"/>
                  <a:sym typeface="IBM Plex Sans"/>
                </a:rPr>
                <a:t>02</a:t>
              </a:r>
              <a:endParaRPr sz="3973">
                <a:latin typeface="IBM Plex Sans"/>
                <a:ea typeface="IBM Plex Sans"/>
                <a:cs typeface="IBM Plex Sans"/>
                <a:sym typeface="IBM Plex Sans"/>
              </a:endParaRPr>
            </a:p>
          </p:txBody>
        </p:sp>
        <p:sp>
          <p:nvSpPr>
            <p:cNvPr id="190" name="Google Shape;190;p30"/>
            <p:cNvSpPr/>
            <p:nvPr/>
          </p:nvSpPr>
          <p:spPr>
            <a:xfrm>
              <a:off x="2068883" y="964640"/>
              <a:ext cx="804600" cy="800400"/>
            </a:xfrm>
            <a:prstGeom prst="roundRect">
              <a:avLst>
                <a:gd fmla="val 16667" name="adj"/>
              </a:avLst>
            </a:prstGeom>
            <a:solidFill>
              <a:srgbClr val="FFFFFF"/>
            </a:solidFill>
            <a:ln cap="flat" cmpd="sng" w="11475">
              <a:solidFill>
                <a:srgbClr val="000000"/>
              </a:solidFill>
              <a:prstDash val="solid"/>
              <a:round/>
              <a:headEnd len="sm" w="sm" type="none"/>
              <a:tailEnd len="sm" w="sm" type="none"/>
            </a:ln>
          </p:spPr>
          <p:txBody>
            <a:bodyPr anchorCtr="0" anchor="ctr" bIns="110075" lIns="110075" spcFirstLastPara="1" rIns="110075" wrap="square" tIns="110075">
              <a:noAutofit/>
            </a:bodyPr>
            <a:lstStyle/>
            <a:p>
              <a:pPr indent="0" lvl="0" marL="0" rtl="0" algn="l">
                <a:lnSpc>
                  <a:spcPct val="80000"/>
                </a:lnSpc>
                <a:spcBef>
                  <a:spcPts val="0"/>
                </a:spcBef>
                <a:spcAft>
                  <a:spcPts val="0"/>
                </a:spcAft>
                <a:buNone/>
              </a:pPr>
              <a:r>
                <a:t/>
              </a:r>
              <a:endParaRPr sz="1685">
                <a:solidFill>
                  <a:schemeClr val="dk1"/>
                </a:solidFill>
              </a:endParaRPr>
            </a:p>
          </p:txBody>
        </p:sp>
        <p:sp>
          <p:nvSpPr>
            <p:cNvPr id="191" name="Google Shape;191;p30"/>
            <p:cNvSpPr/>
            <p:nvPr/>
          </p:nvSpPr>
          <p:spPr>
            <a:xfrm>
              <a:off x="2879221" y="962540"/>
              <a:ext cx="3396000" cy="804600"/>
            </a:xfrm>
            <a:prstGeom prst="roundRect">
              <a:avLst>
                <a:gd fmla="val 50000" name="adj"/>
              </a:avLst>
            </a:prstGeom>
            <a:solidFill>
              <a:srgbClr val="E8F4FF"/>
            </a:solidFill>
            <a:ln cap="flat" cmpd="sng" w="11475">
              <a:solidFill>
                <a:srgbClr val="000000"/>
              </a:solidFill>
              <a:prstDash val="solid"/>
              <a:round/>
              <a:headEnd len="sm" w="sm" type="none"/>
              <a:tailEnd len="sm" w="sm" type="none"/>
            </a:ln>
          </p:spPr>
          <p:txBody>
            <a:bodyPr anchorCtr="0" anchor="ctr" bIns="143100" lIns="220175" spcFirstLastPara="1" rIns="220175" wrap="square" tIns="143100">
              <a:noAutofit/>
            </a:bodyPr>
            <a:lstStyle/>
            <a:p>
              <a:pPr indent="0" lvl="0" marL="0" rtl="0" algn="l">
                <a:lnSpc>
                  <a:spcPct val="115000"/>
                </a:lnSpc>
                <a:spcBef>
                  <a:spcPts val="0"/>
                </a:spcBef>
                <a:spcAft>
                  <a:spcPts val="0"/>
                </a:spcAft>
                <a:buNone/>
              </a:pPr>
              <a:r>
                <a:rPr b="1" lang="en" sz="1144">
                  <a:solidFill>
                    <a:srgbClr val="010101"/>
                  </a:solidFill>
                  <a:latin typeface="IBM Plex Sans"/>
                  <a:ea typeface="IBM Plex Sans"/>
                  <a:cs typeface="IBM Plex Sans"/>
                  <a:sym typeface="IBM Plex Sans"/>
                </a:rPr>
                <a:t>Sparse Retrieval:</a:t>
              </a:r>
              <a:r>
                <a:rPr lang="en" sz="1144">
                  <a:solidFill>
                    <a:srgbClr val="010101"/>
                  </a:solidFill>
                  <a:latin typeface="IBM Plex Sans"/>
                  <a:ea typeface="IBM Plex Sans"/>
                  <a:cs typeface="IBM Plex Sans"/>
                  <a:sym typeface="IBM Plex Sans"/>
                </a:rPr>
                <a:t>  "Cheap" and fast initial candidate generation from the full document corpus. Focusing on surface-level lexical matching to cast a wide net.</a:t>
              </a:r>
              <a:endParaRPr sz="1144">
                <a:solidFill>
                  <a:srgbClr val="010101"/>
                </a:solidFill>
                <a:latin typeface="IBM Plex Sans"/>
                <a:ea typeface="IBM Plex Sans"/>
                <a:cs typeface="IBM Plex Sans"/>
                <a:sym typeface="IBM Plex Sans"/>
              </a:endParaRPr>
            </a:p>
          </p:txBody>
        </p:sp>
        <p:sp>
          <p:nvSpPr>
            <p:cNvPr id="192" name="Google Shape;192;p30"/>
            <p:cNvSpPr txBox="1"/>
            <p:nvPr/>
          </p:nvSpPr>
          <p:spPr>
            <a:xfrm>
              <a:off x="2068883" y="962840"/>
              <a:ext cx="804600" cy="804000"/>
            </a:xfrm>
            <a:prstGeom prst="rect">
              <a:avLst/>
            </a:prstGeom>
            <a:noFill/>
            <a:ln>
              <a:noFill/>
            </a:ln>
          </p:spPr>
          <p:txBody>
            <a:bodyPr anchorCtr="0" anchor="ctr" bIns="110075" lIns="110075" spcFirstLastPara="1" rIns="110075" wrap="square" tIns="110075">
              <a:noAutofit/>
            </a:bodyPr>
            <a:lstStyle/>
            <a:p>
              <a:pPr indent="0" lvl="0" marL="0" rtl="0" algn="ctr">
                <a:lnSpc>
                  <a:spcPct val="90000"/>
                </a:lnSpc>
                <a:spcBef>
                  <a:spcPts val="0"/>
                </a:spcBef>
                <a:spcAft>
                  <a:spcPts val="0"/>
                </a:spcAft>
                <a:buNone/>
              </a:pPr>
              <a:r>
                <a:rPr lang="en" sz="1444">
                  <a:latin typeface="IBM Plex Sans"/>
                  <a:ea typeface="IBM Plex Sans"/>
                  <a:cs typeface="IBM Plex Sans"/>
                  <a:sym typeface="IBM Plex Sans"/>
                </a:rPr>
                <a:t>STAGE</a:t>
              </a:r>
              <a:endParaRPr sz="1444">
                <a:latin typeface="IBM Plex Sans"/>
                <a:ea typeface="IBM Plex Sans"/>
                <a:cs typeface="IBM Plex Sans"/>
                <a:sym typeface="IBM Plex Sans"/>
              </a:endParaRPr>
            </a:p>
            <a:p>
              <a:pPr indent="0" lvl="0" marL="0" rtl="0" algn="ctr">
                <a:lnSpc>
                  <a:spcPct val="90000"/>
                </a:lnSpc>
                <a:spcBef>
                  <a:spcPts val="0"/>
                </a:spcBef>
                <a:spcAft>
                  <a:spcPts val="0"/>
                </a:spcAft>
                <a:buClr>
                  <a:schemeClr val="dk1"/>
                </a:buClr>
                <a:buSzPts val="1324"/>
                <a:buFont typeface="Arial"/>
                <a:buNone/>
              </a:pPr>
              <a:r>
                <a:rPr lang="en" sz="3973">
                  <a:latin typeface="IBM Plex Sans"/>
                  <a:ea typeface="IBM Plex Sans"/>
                  <a:cs typeface="IBM Plex Sans"/>
                  <a:sym typeface="IBM Plex Sans"/>
                </a:rPr>
                <a:t>01</a:t>
              </a:r>
              <a:endParaRPr sz="3973">
                <a:latin typeface="IBM Plex Sans"/>
                <a:ea typeface="IBM Plex Sans"/>
                <a:cs typeface="IBM Plex Sans"/>
                <a:sym typeface="IBM Plex Sans"/>
              </a:endParaRPr>
            </a:p>
          </p:txBody>
        </p:sp>
      </p:grpSp>
      <p:cxnSp>
        <p:nvCxnSpPr>
          <p:cNvPr id="193" name="Google Shape;193;p30"/>
          <p:cNvCxnSpPr/>
          <p:nvPr/>
        </p:nvCxnSpPr>
        <p:spPr>
          <a:xfrm>
            <a:off x="7249500" y="1552138"/>
            <a:ext cx="27000" cy="2587800"/>
          </a:xfrm>
          <a:prstGeom prst="straightConnector1">
            <a:avLst/>
          </a:prstGeom>
          <a:noFill/>
          <a:ln cap="flat" cmpd="sng" w="28575">
            <a:solidFill>
              <a:srgbClr val="010101"/>
            </a:solidFill>
            <a:prstDash val="solid"/>
            <a:round/>
            <a:headEnd len="med" w="med" type="none"/>
            <a:tailEnd len="med" w="med" type="triangle"/>
          </a:ln>
        </p:spPr>
      </p:cxnSp>
      <p:sp>
        <p:nvSpPr>
          <p:cNvPr id="194" name="Google Shape;194;p30"/>
          <p:cNvSpPr txBox="1"/>
          <p:nvPr/>
        </p:nvSpPr>
        <p:spPr>
          <a:xfrm>
            <a:off x="7482225" y="1961800"/>
            <a:ext cx="1418700" cy="17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Candidate Set (K) is </a:t>
            </a:r>
            <a:r>
              <a:rPr lang="en">
                <a:latin typeface="Roboto"/>
                <a:ea typeface="Roboto"/>
                <a:cs typeface="Roboto"/>
                <a:sym typeface="Roboto"/>
              </a:rPr>
              <a:t>optimally</a:t>
            </a:r>
            <a:r>
              <a:rPr lang="en">
                <a:latin typeface="Roboto"/>
                <a:ea typeface="Roboto"/>
                <a:cs typeface="Roboto"/>
                <a:sym typeface="Roboto"/>
              </a:rPr>
              <a:t> pruned at every stage to reduce computational expense</a:t>
            </a:r>
            <a:endParaRPr>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98250" y="16350"/>
            <a:ext cx="8826600" cy="60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b="1" lang="en" sz="2150"/>
              <a:t>Stage 1: Sparse Retrieval Baseline and Parameter Optimization Strategy</a:t>
            </a:r>
            <a:endParaRPr b="1" sz="2150"/>
          </a:p>
        </p:txBody>
      </p:sp>
      <p:sp>
        <p:nvSpPr>
          <p:cNvPr id="200" name="Google Shape;200;p31"/>
          <p:cNvSpPr txBox="1"/>
          <p:nvPr/>
        </p:nvSpPr>
        <p:spPr>
          <a:xfrm>
            <a:off x="337500" y="868500"/>
            <a:ext cx="8451000" cy="405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600">
                <a:latin typeface="Roboto"/>
                <a:ea typeface="Roboto"/>
                <a:cs typeface="Roboto"/>
                <a:sym typeface="Roboto"/>
              </a:rPr>
              <a:t>Objective:</a:t>
            </a:r>
            <a:r>
              <a:rPr lang="en" sz="1600">
                <a:latin typeface="Roboto"/>
                <a:ea typeface="Roboto"/>
                <a:cs typeface="Roboto"/>
                <a:sym typeface="Roboto"/>
              </a:rPr>
              <a:t> Establish a high-recall "safety net" to maximize candidate coverage.</a:t>
            </a:r>
            <a:endParaRPr sz="1600">
              <a:latin typeface="Roboto"/>
              <a:ea typeface="Roboto"/>
              <a:cs typeface="Roboto"/>
              <a:sym typeface="Roboto"/>
            </a:endParaRPr>
          </a:p>
          <a:p>
            <a:pPr indent="0" lvl="0" marL="0" rtl="0" algn="l">
              <a:lnSpc>
                <a:spcPct val="115000"/>
              </a:lnSpc>
              <a:spcBef>
                <a:spcPts val="0"/>
              </a:spcBef>
              <a:spcAft>
                <a:spcPts val="0"/>
              </a:spcAft>
              <a:buNone/>
            </a:pPr>
            <a:r>
              <a:t/>
            </a:r>
            <a:endParaRPr sz="1600">
              <a:latin typeface="Roboto"/>
              <a:ea typeface="Roboto"/>
              <a:cs typeface="Roboto"/>
              <a:sym typeface="Roboto"/>
            </a:endParaRPr>
          </a:p>
          <a:p>
            <a:pPr indent="0" lvl="0" marL="0" rtl="0" algn="l">
              <a:lnSpc>
                <a:spcPct val="115000"/>
              </a:lnSpc>
              <a:spcBef>
                <a:spcPts val="0"/>
              </a:spcBef>
              <a:spcAft>
                <a:spcPts val="0"/>
              </a:spcAft>
              <a:buNone/>
            </a:pPr>
            <a:r>
              <a:rPr b="1" lang="en" sz="1600">
                <a:latin typeface="Roboto"/>
                <a:ea typeface="Roboto"/>
                <a:cs typeface="Roboto"/>
                <a:sym typeface="Roboto"/>
              </a:rPr>
              <a:t>Models:</a:t>
            </a:r>
            <a:endParaRPr b="1" sz="1600">
              <a:latin typeface="Roboto"/>
              <a:ea typeface="Roboto"/>
              <a:cs typeface="Roboto"/>
              <a:sym typeface="Roboto"/>
            </a:endParaRPr>
          </a:p>
          <a:p>
            <a:pPr indent="-330200" lvl="0" marL="457200" rtl="0" algn="l">
              <a:lnSpc>
                <a:spcPct val="115000"/>
              </a:lnSpc>
              <a:spcBef>
                <a:spcPts val="0"/>
              </a:spcBef>
              <a:spcAft>
                <a:spcPts val="0"/>
              </a:spcAft>
              <a:buSzPts val="1600"/>
              <a:buChar char="●"/>
            </a:pPr>
            <a:r>
              <a:rPr b="1" lang="en" sz="1600">
                <a:latin typeface="Roboto"/>
                <a:ea typeface="Roboto"/>
                <a:cs typeface="Roboto"/>
                <a:sym typeface="Roboto"/>
              </a:rPr>
              <a:t>Okapi BM25:</a:t>
            </a:r>
            <a:r>
              <a:rPr lang="en" sz="1600">
                <a:latin typeface="Roboto"/>
                <a:ea typeface="Roboto"/>
                <a:cs typeface="Roboto"/>
                <a:sym typeface="Roboto"/>
              </a:rPr>
              <a:t> Standard probabilistic baseline.</a:t>
            </a:r>
            <a:endParaRPr sz="1600">
              <a:latin typeface="Roboto"/>
              <a:ea typeface="Roboto"/>
              <a:cs typeface="Roboto"/>
              <a:sym typeface="Roboto"/>
            </a:endParaRPr>
          </a:p>
          <a:p>
            <a:pPr indent="-330200" lvl="0" marL="457200" rtl="0" algn="l">
              <a:lnSpc>
                <a:spcPct val="115000"/>
              </a:lnSpc>
              <a:spcBef>
                <a:spcPts val="0"/>
              </a:spcBef>
              <a:spcAft>
                <a:spcPts val="0"/>
              </a:spcAft>
              <a:buSzPts val="1600"/>
              <a:buChar char="●"/>
            </a:pPr>
            <a:r>
              <a:rPr b="1" lang="en" sz="1600">
                <a:latin typeface="Roboto"/>
                <a:ea typeface="Roboto"/>
                <a:cs typeface="Roboto"/>
                <a:sym typeface="Roboto"/>
              </a:rPr>
              <a:t>PL2 (Divergence from Randomness):</a:t>
            </a:r>
            <a:r>
              <a:rPr lang="en" sz="1600">
                <a:latin typeface="Roboto"/>
                <a:ea typeface="Roboto"/>
                <a:cs typeface="Roboto"/>
                <a:sym typeface="Roboto"/>
              </a:rPr>
              <a:t> Captures term distribution divergence.</a:t>
            </a:r>
            <a:endParaRPr sz="1600">
              <a:latin typeface="Roboto"/>
              <a:ea typeface="Roboto"/>
              <a:cs typeface="Roboto"/>
              <a:sym typeface="Roboto"/>
            </a:endParaRPr>
          </a:p>
          <a:p>
            <a:pPr indent="0" lvl="0" marL="0" rtl="0" algn="l">
              <a:lnSpc>
                <a:spcPct val="115000"/>
              </a:lnSpc>
              <a:spcBef>
                <a:spcPts val="1200"/>
              </a:spcBef>
              <a:spcAft>
                <a:spcPts val="0"/>
              </a:spcAft>
              <a:buNone/>
            </a:pPr>
            <a:r>
              <a:t/>
            </a:r>
            <a:endParaRPr b="1" sz="1600">
              <a:latin typeface="Roboto"/>
              <a:ea typeface="Roboto"/>
              <a:cs typeface="Roboto"/>
              <a:sym typeface="Roboto"/>
            </a:endParaRPr>
          </a:p>
          <a:p>
            <a:pPr indent="0" lvl="0" marL="0" rtl="0" algn="l">
              <a:lnSpc>
                <a:spcPct val="115000"/>
              </a:lnSpc>
              <a:spcBef>
                <a:spcPts val="0"/>
              </a:spcBef>
              <a:spcAft>
                <a:spcPts val="0"/>
              </a:spcAft>
              <a:buNone/>
            </a:pPr>
            <a:r>
              <a:rPr b="1" lang="en" sz="1600">
                <a:latin typeface="Roboto"/>
                <a:ea typeface="Roboto"/>
                <a:cs typeface="Roboto"/>
                <a:sym typeface="Roboto"/>
              </a:rPr>
              <a:t>Optimization Strategy:</a:t>
            </a:r>
            <a:r>
              <a:rPr lang="en" sz="1600">
                <a:latin typeface="Roboto"/>
                <a:ea typeface="Roboto"/>
                <a:cs typeface="Roboto"/>
                <a:sym typeface="Roboto"/>
              </a:rPr>
              <a:t> </a:t>
            </a:r>
            <a:r>
              <a:rPr b="1" lang="en" sz="1600">
                <a:latin typeface="Roboto"/>
                <a:ea typeface="Roboto"/>
                <a:cs typeface="Roboto"/>
                <a:sym typeface="Roboto"/>
              </a:rPr>
              <a:t>Sequential Adaptive Grid Search</a:t>
            </a:r>
            <a:endParaRPr b="1" sz="1600">
              <a:latin typeface="Roboto"/>
              <a:ea typeface="Roboto"/>
              <a:cs typeface="Roboto"/>
              <a:sym typeface="Roboto"/>
            </a:endParaRPr>
          </a:p>
          <a:p>
            <a:pPr indent="-330200" lvl="0" marL="457200" rtl="0" algn="l">
              <a:lnSpc>
                <a:spcPct val="115000"/>
              </a:lnSpc>
              <a:spcBef>
                <a:spcPts val="0"/>
              </a:spcBef>
              <a:spcAft>
                <a:spcPts val="0"/>
              </a:spcAft>
              <a:buSzPts val="1600"/>
              <a:buFont typeface="Roboto"/>
              <a:buChar char="●"/>
            </a:pPr>
            <a:r>
              <a:rPr b="1" lang="en" sz="1600">
                <a:latin typeface="Roboto"/>
                <a:ea typeface="Roboto"/>
                <a:cs typeface="Roboto"/>
                <a:sym typeface="Roboto"/>
              </a:rPr>
              <a:t>Optimization Objective: </a:t>
            </a:r>
            <a:r>
              <a:rPr lang="en" sz="1600">
                <a:latin typeface="Roboto"/>
                <a:ea typeface="Roboto"/>
                <a:cs typeface="Roboto"/>
                <a:sym typeface="Roboto"/>
              </a:rPr>
              <a:t>Maximize nDCG@10 (Ranking Quality). </a:t>
            </a:r>
            <a:endParaRPr sz="1600">
              <a:latin typeface="Roboto"/>
              <a:ea typeface="Roboto"/>
              <a:cs typeface="Roboto"/>
              <a:sym typeface="Roboto"/>
            </a:endParaRPr>
          </a:p>
          <a:p>
            <a:pPr indent="-330200" lvl="0" marL="457200" rtl="0" algn="l">
              <a:lnSpc>
                <a:spcPct val="115000"/>
              </a:lnSpc>
              <a:spcBef>
                <a:spcPts val="0"/>
              </a:spcBef>
              <a:spcAft>
                <a:spcPts val="0"/>
              </a:spcAft>
              <a:buSzPts val="1600"/>
              <a:buFont typeface="Roboto"/>
              <a:buChar char="●"/>
            </a:pPr>
            <a:r>
              <a:rPr b="1" lang="en" sz="1600">
                <a:latin typeface="Roboto"/>
                <a:ea typeface="Roboto"/>
                <a:cs typeface="Roboto"/>
                <a:sym typeface="Roboto"/>
              </a:rPr>
              <a:t>Flow:</a:t>
            </a:r>
            <a:r>
              <a:rPr lang="en" sz="1600">
                <a:latin typeface="Roboto"/>
                <a:ea typeface="Roboto"/>
                <a:cs typeface="Roboto"/>
                <a:sym typeface="Roboto"/>
              </a:rPr>
              <a:t> Employed a multi-stage tuning approach: </a:t>
            </a:r>
            <a:r>
              <a:rPr lang="en" sz="1600">
                <a:latin typeface="Roboto"/>
                <a:ea typeface="Roboto"/>
                <a:cs typeface="Roboto"/>
                <a:sym typeface="Roboto"/>
              </a:rPr>
              <a:t>train → dev1 → dev2 (</a:t>
            </a:r>
            <a:r>
              <a:rPr i="1" lang="en" sz="1600">
                <a:latin typeface="Roboto"/>
                <a:ea typeface="Roboto"/>
                <a:cs typeface="Roboto"/>
                <a:sym typeface="Roboto"/>
              </a:rPr>
              <a:t>We did not use dev3 for tuning parameters at any stage, as it served as our pseudo-test set</a:t>
            </a:r>
            <a:r>
              <a:rPr lang="en" sz="1600">
                <a:latin typeface="Roboto"/>
                <a:ea typeface="Roboto"/>
                <a:cs typeface="Roboto"/>
                <a:sym typeface="Roboto"/>
              </a:rPr>
              <a:t>)</a:t>
            </a:r>
            <a:r>
              <a:rPr lang="en" sz="1600">
                <a:latin typeface="Roboto"/>
                <a:ea typeface="Roboto"/>
                <a:cs typeface="Roboto"/>
                <a:sym typeface="Roboto"/>
              </a:rPr>
              <a:t>.</a:t>
            </a:r>
            <a:endParaRPr b="1" sz="1600">
              <a:latin typeface="Roboto"/>
              <a:ea typeface="Roboto"/>
              <a:cs typeface="Roboto"/>
              <a:sym typeface="Roboto"/>
            </a:endParaRPr>
          </a:p>
          <a:p>
            <a:pPr indent="-330200" lvl="0" marL="457200" rtl="0" algn="l">
              <a:lnSpc>
                <a:spcPct val="115000"/>
              </a:lnSpc>
              <a:spcBef>
                <a:spcPts val="0"/>
              </a:spcBef>
              <a:spcAft>
                <a:spcPts val="0"/>
              </a:spcAft>
              <a:buSzPts val="1600"/>
              <a:buChar char="●"/>
            </a:pPr>
            <a:r>
              <a:rPr b="1" lang="en" sz="1600">
                <a:latin typeface="Roboto"/>
                <a:ea typeface="Roboto"/>
                <a:cs typeface="Roboto"/>
                <a:sym typeface="Roboto"/>
              </a:rPr>
              <a:t>Mechanism:</a:t>
            </a:r>
            <a:r>
              <a:rPr lang="en" sz="1600">
                <a:latin typeface="Roboto"/>
                <a:ea typeface="Roboto"/>
                <a:cs typeface="Roboto"/>
                <a:sym typeface="Roboto"/>
              </a:rPr>
              <a:t> Progressed from a coarse </a:t>
            </a:r>
            <a:r>
              <a:rPr b="1" lang="en" sz="1600">
                <a:latin typeface="Roboto"/>
                <a:ea typeface="Roboto"/>
                <a:cs typeface="Roboto"/>
                <a:sym typeface="Roboto"/>
              </a:rPr>
              <a:t>Global Search</a:t>
            </a:r>
            <a:r>
              <a:rPr lang="en" sz="1600">
                <a:latin typeface="Roboto"/>
                <a:ea typeface="Roboto"/>
                <a:cs typeface="Roboto"/>
                <a:sym typeface="Roboto"/>
              </a:rPr>
              <a:t> (Train) to a fine-grained </a:t>
            </a:r>
            <a:r>
              <a:rPr b="1" lang="en" sz="1600">
                <a:latin typeface="Roboto"/>
                <a:ea typeface="Roboto"/>
                <a:cs typeface="Roboto"/>
                <a:sym typeface="Roboto"/>
              </a:rPr>
              <a:t>Local Refinement</a:t>
            </a:r>
            <a:r>
              <a:rPr lang="en" sz="1600">
                <a:latin typeface="Roboto"/>
                <a:ea typeface="Roboto"/>
                <a:cs typeface="Roboto"/>
                <a:sym typeface="Roboto"/>
              </a:rPr>
              <a:t> (Dev sets) around optimal parameters to prevent overfitting.</a:t>
            </a:r>
            <a:endParaRPr sz="1600">
              <a:latin typeface="Roboto"/>
              <a:ea typeface="Roboto"/>
              <a:cs typeface="Roboto"/>
              <a:sym typeface="Roboto"/>
            </a:endParaRPr>
          </a:p>
          <a:p>
            <a:pPr indent="-330200" lvl="0" marL="457200" rtl="0" algn="l">
              <a:lnSpc>
                <a:spcPct val="115000"/>
              </a:lnSpc>
              <a:spcBef>
                <a:spcPts val="0"/>
              </a:spcBef>
              <a:spcAft>
                <a:spcPts val="0"/>
              </a:spcAft>
              <a:buSzPts val="1600"/>
              <a:buFont typeface="Roboto"/>
              <a:buChar char="●"/>
            </a:pPr>
            <a:r>
              <a:rPr i="1" lang="en" sz="1600">
                <a:latin typeface="Roboto"/>
                <a:ea typeface="Roboto"/>
                <a:cs typeface="Roboto"/>
                <a:sym typeface="Roboto"/>
              </a:rPr>
              <a:t>(Full algorithmic details and search spaces available in our Notebook Paper Section 3.4.1)</a:t>
            </a:r>
            <a:endParaRPr b="1" sz="1600">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50"/>
              <a:t>Stage 1: Sparse Retrieval Performance (BM25 vs. PL2)</a:t>
            </a:r>
            <a:endParaRPr b="1" sz="2150"/>
          </a:p>
        </p:txBody>
      </p:sp>
      <p:pic>
        <p:nvPicPr>
          <p:cNvPr id="206" name="Google Shape;206;p32"/>
          <p:cNvPicPr preferRelativeResize="0"/>
          <p:nvPr/>
        </p:nvPicPr>
        <p:blipFill>
          <a:blip r:embed="rId3">
            <a:alphaModFix/>
          </a:blip>
          <a:stretch>
            <a:fillRect/>
          </a:stretch>
        </p:blipFill>
        <p:spPr>
          <a:xfrm>
            <a:off x="553200" y="730950"/>
            <a:ext cx="8397602" cy="3865350"/>
          </a:xfrm>
          <a:prstGeom prst="rect">
            <a:avLst/>
          </a:prstGeom>
          <a:noFill/>
          <a:ln cap="flat" cmpd="sng" w="19050">
            <a:solidFill>
              <a:schemeClr val="dk2"/>
            </a:solidFill>
            <a:prstDash val="solid"/>
            <a:round/>
            <a:headEnd len="sm" w="sm" type="none"/>
            <a:tailEnd len="sm" w="sm" type="none"/>
          </a:ln>
        </p:spPr>
      </p:pic>
      <p:sp>
        <p:nvSpPr>
          <p:cNvPr id="207" name="Google Shape;207;p32"/>
          <p:cNvSpPr txBox="1"/>
          <p:nvPr/>
        </p:nvSpPr>
        <p:spPr>
          <a:xfrm>
            <a:off x="850500" y="4596300"/>
            <a:ext cx="7803000" cy="35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latin typeface="Roboto"/>
                <a:ea typeface="Roboto"/>
                <a:cs typeface="Roboto"/>
                <a:sym typeface="Roboto"/>
              </a:rPr>
              <a:t>Table: Mistral-rewritten queries outperform Original and Summarized queries on both retrieval models.</a:t>
            </a:r>
            <a:endParaRPr b="1" sz="1100">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50"/>
              <a:t>Stage 1: Sparse Retrieval Performance (BM25 vs. PL2) (contd.)</a:t>
            </a:r>
            <a:endParaRPr b="1" sz="2150"/>
          </a:p>
        </p:txBody>
      </p:sp>
      <p:sp>
        <p:nvSpPr>
          <p:cNvPr id="213" name="Google Shape;213;p33"/>
          <p:cNvSpPr txBox="1"/>
          <p:nvPr/>
        </p:nvSpPr>
        <p:spPr>
          <a:xfrm>
            <a:off x="310500" y="963000"/>
            <a:ext cx="8478000" cy="39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Roboto"/>
                <a:ea typeface="Roboto"/>
                <a:cs typeface="Roboto"/>
                <a:sym typeface="Roboto"/>
              </a:rPr>
              <a:t>Metric:</a:t>
            </a:r>
            <a:r>
              <a:rPr lang="en" sz="1600">
                <a:latin typeface="Roboto"/>
                <a:ea typeface="Roboto"/>
                <a:cs typeface="Roboto"/>
                <a:sym typeface="Roboto"/>
              </a:rPr>
              <a:t> nDCG@10 (Proxy for Intent Alignment).</a:t>
            </a:r>
            <a:endParaRPr sz="1600">
              <a:latin typeface="Roboto"/>
              <a:ea typeface="Roboto"/>
              <a:cs typeface="Roboto"/>
              <a:sym typeface="Roboto"/>
            </a:endParaRPr>
          </a:p>
          <a:p>
            <a:pPr indent="0" lvl="0" marL="0" rtl="0" algn="l">
              <a:spcBef>
                <a:spcPts val="0"/>
              </a:spcBef>
              <a:spcAft>
                <a:spcPts val="0"/>
              </a:spcAft>
              <a:buNone/>
            </a:pPr>
            <a:r>
              <a:t/>
            </a:r>
            <a:endParaRPr sz="1600">
              <a:latin typeface="Roboto"/>
              <a:ea typeface="Roboto"/>
              <a:cs typeface="Roboto"/>
              <a:sym typeface="Roboto"/>
            </a:endParaRPr>
          </a:p>
          <a:p>
            <a:pPr indent="0" lvl="0" marL="0" rtl="0" algn="l">
              <a:spcBef>
                <a:spcPts val="0"/>
              </a:spcBef>
              <a:spcAft>
                <a:spcPts val="0"/>
              </a:spcAft>
              <a:buNone/>
            </a:pPr>
            <a:r>
              <a:rPr b="1" lang="en" sz="1600">
                <a:latin typeface="Roboto"/>
                <a:ea typeface="Roboto"/>
                <a:cs typeface="Roboto"/>
                <a:sym typeface="Roboto"/>
              </a:rPr>
              <a:t>Optimized Parameters:</a:t>
            </a:r>
            <a:endParaRPr b="1" sz="1600">
              <a:latin typeface="Roboto"/>
              <a:ea typeface="Roboto"/>
              <a:cs typeface="Roboto"/>
              <a:sym typeface="Roboto"/>
            </a:endParaRPr>
          </a:p>
          <a:p>
            <a:pPr indent="-330200" lvl="0" marL="457200" rtl="0" algn="l">
              <a:lnSpc>
                <a:spcPct val="115000"/>
              </a:lnSpc>
              <a:spcBef>
                <a:spcPts val="1200"/>
              </a:spcBef>
              <a:spcAft>
                <a:spcPts val="0"/>
              </a:spcAft>
              <a:buSzPts val="1600"/>
              <a:buFont typeface="Roboto"/>
              <a:buChar char="●"/>
            </a:pPr>
            <a:r>
              <a:rPr lang="en" sz="1600">
                <a:latin typeface="Roboto"/>
                <a:ea typeface="Roboto"/>
                <a:cs typeface="Roboto"/>
                <a:sym typeface="Roboto"/>
              </a:rPr>
              <a:t>The Adaptive Grid Search converged on distinct "sweet spots" for each rewriter.</a:t>
            </a:r>
            <a:endParaRPr sz="1600">
              <a:latin typeface="Roboto"/>
              <a:ea typeface="Roboto"/>
              <a:cs typeface="Roboto"/>
              <a:sym typeface="Roboto"/>
            </a:endParaRPr>
          </a:p>
          <a:p>
            <a:pPr indent="-330200" lvl="0" marL="457200" rtl="0" algn="l">
              <a:lnSpc>
                <a:spcPct val="115000"/>
              </a:lnSpc>
              <a:spcBef>
                <a:spcPts val="0"/>
              </a:spcBef>
              <a:spcAft>
                <a:spcPts val="0"/>
              </a:spcAft>
              <a:buSzPts val="1600"/>
              <a:buChar char="●"/>
            </a:pPr>
            <a:r>
              <a:rPr b="1" lang="en" sz="1600">
                <a:latin typeface="Roboto"/>
                <a:ea typeface="Roboto"/>
                <a:cs typeface="Roboto"/>
                <a:sym typeface="Roboto"/>
              </a:rPr>
              <a:t>Observation:</a:t>
            </a:r>
            <a:r>
              <a:rPr lang="en" sz="1600">
                <a:latin typeface="Roboto"/>
                <a:ea typeface="Roboto"/>
                <a:cs typeface="Roboto"/>
                <a:sym typeface="Roboto"/>
              </a:rPr>
              <a:t> Mistral-rewritten queries consistently yielded the highest nDCG scores across both BM25 and PL2.</a:t>
            </a:r>
            <a:endParaRPr sz="1600">
              <a:latin typeface="Roboto"/>
              <a:ea typeface="Roboto"/>
              <a:cs typeface="Roboto"/>
              <a:sym typeface="Roboto"/>
            </a:endParaRPr>
          </a:p>
          <a:p>
            <a:pPr indent="0" lvl="0" marL="0" rtl="0" algn="l">
              <a:lnSpc>
                <a:spcPct val="115000"/>
              </a:lnSpc>
              <a:spcBef>
                <a:spcPts val="1200"/>
              </a:spcBef>
              <a:spcAft>
                <a:spcPts val="0"/>
              </a:spcAft>
              <a:buNone/>
            </a:pPr>
            <a:r>
              <a:rPr b="1" lang="en" sz="1600">
                <a:latin typeface="Roboto"/>
                <a:ea typeface="Roboto"/>
                <a:cs typeface="Roboto"/>
                <a:sym typeface="Roboto"/>
              </a:rPr>
              <a:t>Correlation Note:</a:t>
            </a:r>
            <a:endParaRPr b="1" sz="1600">
              <a:latin typeface="Roboto"/>
              <a:ea typeface="Roboto"/>
              <a:cs typeface="Roboto"/>
              <a:sym typeface="Roboto"/>
            </a:endParaRPr>
          </a:p>
          <a:p>
            <a:pPr indent="-330200" lvl="0" marL="457200" rtl="0" algn="l">
              <a:lnSpc>
                <a:spcPct val="115000"/>
              </a:lnSpc>
              <a:spcBef>
                <a:spcPts val="1200"/>
              </a:spcBef>
              <a:spcAft>
                <a:spcPts val="0"/>
              </a:spcAft>
              <a:buSzPts val="1600"/>
              <a:buFont typeface="Roboto"/>
              <a:buChar char="●"/>
            </a:pPr>
            <a:r>
              <a:rPr lang="en" sz="1600">
                <a:latin typeface="Roboto"/>
                <a:ea typeface="Roboto"/>
                <a:cs typeface="Roboto"/>
                <a:sym typeface="Roboto"/>
              </a:rPr>
              <a:t>While we optimized for nDCG@10, we observed a near-perfect correlation with Recall@1000. Optimizing for top-tier ranking inherently ensured broad retrieval coverage.</a:t>
            </a:r>
            <a:endParaRPr sz="1600">
              <a:solidFill>
                <a:schemeClr val="lt2"/>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226078" y="357800"/>
            <a:ext cx="2808000" cy="953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sz="2150"/>
              <a:t>Stage 1: Why we dropped the idea of Sparse RRF?</a:t>
            </a:r>
            <a:endParaRPr b="1" sz="2150"/>
          </a:p>
        </p:txBody>
      </p:sp>
      <p:sp>
        <p:nvSpPr>
          <p:cNvPr id="219" name="Google Shape;219;p34"/>
          <p:cNvSpPr txBox="1"/>
          <p:nvPr>
            <p:ph idx="1" type="body"/>
          </p:nvPr>
        </p:nvSpPr>
        <p:spPr>
          <a:xfrm>
            <a:off x="226075" y="1311200"/>
            <a:ext cx="2808000" cy="3553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b="1" lang="en" sz="952">
                <a:latin typeface="Arial"/>
                <a:ea typeface="Arial"/>
                <a:cs typeface="Arial"/>
                <a:sym typeface="Arial"/>
              </a:rPr>
              <a:t>Initial Hypothesis:</a:t>
            </a:r>
            <a:endParaRPr b="1" sz="952">
              <a:latin typeface="Arial"/>
              <a:ea typeface="Arial"/>
              <a:cs typeface="Arial"/>
              <a:sym typeface="Arial"/>
            </a:endParaRPr>
          </a:p>
          <a:p>
            <a:pPr indent="-289083" lvl="0" marL="457200" rtl="0" algn="l">
              <a:lnSpc>
                <a:spcPct val="95000"/>
              </a:lnSpc>
              <a:spcBef>
                <a:spcPts val="0"/>
              </a:spcBef>
              <a:spcAft>
                <a:spcPts val="0"/>
              </a:spcAft>
              <a:buClr>
                <a:schemeClr val="lt1"/>
              </a:buClr>
              <a:buSzPts val="952"/>
              <a:buFont typeface="Arial"/>
              <a:buChar char="●"/>
            </a:pPr>
            <a:r>
              <a:rPr lang="en" sz="952">
                <a:latin typeface="Arial"/>
                <a:ea typeface="Arial"/>
                <a:cs typeface="Arial"/>
                <a:sym typeface="Arial"/>
              </a:rPr>
              <a:t>Combine BM25 and PL2 outputs using </a:t>
            </a:r>
            <a:r>
              <a:rPr b="1" lang="en" sz="952">
                <a:latin typeface="Arial"/>
                <a:ea typeface="Arial"/>
                <a:cs typeface="Arial"/>
                <a:sym typeface="Arial"/>
              </a:rPr>
              <a:t>Reciprocal Rank Fusion (RRF)</a:t>
            </a:r>
            <a:r>
              <a:rPr lang="en" sz="952">
                <a:latin typeface="Arial"/>
                <a:ea typeface="Arial"/>
                <a:cs typeface="Arial"/>
                <a:sym typeface="Arial"/>
              </a:rPr>
              <a:t> to maximize recall before the Dense Stage.</a:t>
            </a:r>
            <a:endParaRPr sz="952">
              <a:latin typeface="Arial"/>
              <a:ea typeface="Arial"/>
              <a:cs typeface="Arial"/>
              <a:sym typeface="Arial"/>
            </a:endParaRPr>
          </a:p>
          <a:p>
            <a:pPr indent="0" lvl="0" marL="0" rtl="0" algn="l">
              <a:lnSpc>
                <a:spcPct val="95000"/>
              </a:lnSpc>
              <a:spcBef>
                <a:spcPts val="1200"/>
              </a:spcBef>
              <a:spcAft>
                <a:spcPts val="0"/>
              </a:spcAft>
              <a:buSzPts val="852"/>
              <a:buNone/>
            </a:pPr>
            <a:r>
              <a:rPr b="1" lang="en" sz="952">
                <a:latin typeface="Arial"/>
                <a:ea typeface="Arial"/>
                <a:cs typeface="Arial"/>
                <a:sym typeface="Arial"/>
              </a:rPr>
              <a:t>Empirical Finding:</a:t>
            </a:r>
            <a:endParaRPr sz="952">
              <a:latin typeface="Arial"/>
              <a:ea typeface="Arial"/>
              <a:cs typeface="Arial"/>
              <a:sym typeface="Arial"/>
            </a:endParaRPr>
          </a:p>
          <a:p>
            <a:pPr indent="-289083" lvl="0" marL="457200" rtl="0" algn="l">
              <a:lnSpc>
                <a:spcPct val="95000"/>
              </a:lnSpc>
              <a:spcBef>
                <a:spcPts val="0"/>
              </a:spcBef>
              <a:spcAft>
                <a:spcPts val="0"/>
              </a:spcAft>
              <a:buClr>
                <a:schemeClr val="lt1"/>
              </a:buClr>
              <a:buSzPts val="952"/>
              <a:buFont typeface="Arial"/>
              <a:buChar char="●"/>
            </a:pPr>
            <a:r>
              <a:rPr lang="en" sz="952">
                <a:latin typeface="Arial"/>
                <a:ea typeface="Arial"/>
                <a:cs typeface="Arial"/>
                <a:sym typeface="Arial"/>
              </a:rPr>
              <a:t>RRF added computational overhead (running two retrievers + fusion logic) with negligible performance gain</a:t>
            </a:r>
            <a:endParaRPr sz="952">
              <a:latin typeface="Arial"/>
              <a:ea typeface="Arial"/>
              <a:cs typeface="Arial"/>
              <a:sym typeface="Arial"/>
            </a:endParaRPr>
          </a:p>
          <a:p>
            <a:pPr indent="-289083" lvl="0" marL="457200" rtl="0" algn="l">
              <a:lnSpc>
                <a:spcPct val="95000"/>
              </a:lnSpc>
              <a:spcBef>
                <a:spcPts val="0"/>
              </a:spcBef>
              <a:spcAft>
                <a:spcPts val="0"/>
              </a:spcAft>
              <a:buClr>
                <a:schemeClr val="lt1"/>
              </a:buClr>
              <a:buSzPts val="952"/>
              <a:buFont typeface="Arial"/>
              <a:buChar char="●"/>
            </a:pPr>
            <a:r>
              <a:rPr lang="en" sz="952">
                <a:latin typeface="Arial"/>
                <a:ea typeface="Arial"/>
                <a:cs typeface="Arial"/>
                <a:sym typeface="Arial"/>
              </a:rPr>
              <a:t>Infact, the scores of the better performing BM25 was getting pulled down by the RRF as it was incorporating PL2’s ranked list</a:t>
            </a:r>
            <a:endParaRPr sz="952">
              <a:latin typeface="Arial"/>
              <a:ea typeface="Arial"/>
              <a:cs typeface="Arial"/>
              <a:sym typeface="Arial"/>
            </a:endParaRPr>
          </a:p>
          <a:p>
            <a:pPr indent="0" lvl="0" marL="0" rtl="0" algn="l">
              <a:lnSpc>
                <a:spcPct val="95000"/>
              </a:lnSpc>
              <a:spcBef>
                <a:spcPts val="1200"/>
              </a:spcBef>
              <a:spcAft>
                <a:spcPts val="0"/>
              </a:spcAft>
              <a:buSzPts val="852"/>
              <a:buNone/>
            </a:pPr>
            <a:r>
              <a:rPr b="1" lang="en" sz="952">
                <a:latin typeface="Arial"/>
                <a:ea typeface="Arial"/>
                <a:cs typeface="Arial"/>
                <a:sym typeface="Arial"/>
              </a:rPr>
              <a:t>Decision:</a:t>
            </a:r>
            <a:endParaRPr b="1" sz="952">
              <a:latin typeface="Arial"/>
              <a:ea typeface="Arial"/>
              <a:cs typeface="Arial"/>
              <a:sym typeface="Arial"/>
            </a:endParaRPr>
          </a:p>
          <a:p>
            <a:pPr indent="-289083" lvl="0" marL="457200" rtl="0" algn="l">
              <a:lnSpc>
                <a:spcPct val="95000"/>
              </a:lnSpc>
              <a:spcBef>
                <a:spcPts val="0"/>
              </a:spcBef>
              <a:spcAft>
                <a:spcPts val="0"/>
              </a:spcAft>
              <a:buClr>
                <a:schemeClr val="lt1"/>
              </a:buClr>
              <a:buSzPts val="952"/>
              <a:buFont typeface="Arial"/>
              <a:buChar char="●"/>
            </a:pPr>
            <a:r>
              <a:rPr b="1" lang="en" sz="952">
                <a:latin typeface="Arial"/>
                <a:ea typeface="Arial"/>
                <a:cs typeface="Arial"/>
                <a:sym typeface="Arial"/>
              </a:rPr>
              <a:t>Drop PL2 and RRF.</a:t>
            </a:r>
            <a:endParaRPr b="1" sz="952">
              <a:latin typeface="Arial"/>
              <a:ea typeface="Arial"/>
              <a:cs typeface="Arial"/>
              <a:sym typeface="Arial"/>
            </a:endParaRPr>
          </a:p>
          <a:p>
            <a:pPr indent="-289083" lvl="0" marL="457200" rtl="0" algn="l">
              <a:lnSpc>
                <a:spcPct val="95000"/>
              </a:lnSpc>
              <a:spcBef>
                <a:spcPts val="0"/>
              </a:spcBef>
              <a:spcAft>
                <a:spcPts val="0"/>
              </a:spcAft>
              <a:buClr>
                <a:schemeClr val="lt1"/>
              </a:buClr>
              <a:buSzPts val="952"/>
              <a:buFont typeface="Arial"/>
              <a:buChar char="●"/>
            </a:pPr>
            <a:r>
              <a:rPr lang="en" sz="952">
                <a:latin typeface="Arial"/>
                <a:ea typeface="Arial"/>
                <a:cs typeface="Arial"/>
                <a:sym typeface="Arial"/>
              </a:rPr>
              <a:t>Proceed to the Dense Stage using </a:t>
            </a:r>
            <a:r>
              <a:rPr b="1" lang="en" sz="952">
                <a:latin typeface="Arial"/>
                <a:ea typeface="Arial"/>
                <a:cs typeface="Arial"/>
                <a:sym typeface="Arial"/>
              </a:rPr>
              <a:t>only BM25 candidates</a:t>
            </a:r>
            <a:r>
              <a:rPr lang="en" sz="952">
                <a:latin typeface="Arial"/>
                <a:ea typeface="Arial"/>
                <a:cs typeface="Arial"/>
                <a:sym typeface="Arial"/>
              </a:rPr>
              <a:t> derived from Mistral queries.</a:t>
            </a:r>
            <a:endParaRPr sz="952">
              <a:latin typeface="Arial"/>
              <a:ea typeface="Arial"/>
              <a:cs typeface="Arial"/>
              <a:sym typeface="Arial"/>
            </a:endParaRPr>
          </a:p>
          <a:p>
            <a:pPr indent="0" lvl="0" marL="0" rtl="0" algn="l">
              <a:lnSpc>
                <a:spcPct val="95000"/>
              </a:lnSpc>
              <a:spcBef>
                <a:spcPts val="1200"/>
              </a:spcBef>
              <a:spcAft>
                <a:spcPts val="0"/>
              </a:spcAft>
              <a:buSzPts val="852"/>
              <a:buNone/>
            </a:pPr>
            <a:r>
              <a:rPr b="1" lang="en" sz="952">
                <a:latin typeface="Arial"/>
                <a:ea typeface="Arial"/>
                <a:cs typeface="Arial"/>
                <a:sym typeface="Arial"/>
              </a:rPr>
              <a:t>Benefit:</a:t>
            </a:r>
            <a:endParaRPr b="1" sz="952">
              <a:latin typeface="Arial"/>
              <a:ea typeface="Arial"/>
              <a:cs typeface="Arial"/>
              <a:sym typeface="Arial"/>
            </a:endParaRPr>
          </a:p>
          <a:p>
            <a:pPr indent="-289083" lvl="0" marL="457200" rtl="0" algn="l">
              <a:lnSpc>
                <a:spcPct val="95000"/>
              </a:lnSpc>
              <a:spcBef>
                <a:spcPts val="0"/>
              </a:spcBef>
              <a:spcAft>
                <a:spcPts val="0"/>
              </a:spcAft>
              <a:buClr>
                <a:schemeClr val="lt1"/>
              </a:buClr>
              <a:buSzPts val="952"/>
              <a:buFont typeface="Arial"/>
              <a:buChar char="●"/>
            </a:pPr>
            <a:r>
              <a:rPr lang="en" sz="952">
                <a:latin typeface="Arial"/>
                <a:ea typeface="Arial"/>
                <a:cs typeface="Arial"/>
                <a:sym typeface="Arial"/>
              </a:rPr>
              <a:t>Reduces Stage 1 latency by </a:t>
            </a:r>
            <a:r>
              <a:rPr b="1" lang="en" sz="952">
                <a:latin typeface="Arial"/>
                <a:ea typeface="Arial"/>
                <a:cs typeface="Arial"/>
                <a:sym typeface="Arial"/>
              </a:rPr>
              <a:t>50%</a:t>
            </a:r>
            <a:r>
              <a:rPr lang="en" sz="952">
                <a:latin typeface="Arial"/>
                <a:ea typeface="Arial"/>
                <a:cs typeface="Arial"/>
                <a:sym typeface="Arial"/>
              </a:rPr>
              <a:t> without compromising candidate quality.</a:t>
            </a:r>
            <a:endParaRPr sz="952">
              <a:latin typeface="Arial"/>
              <a:ea typeface="Arial"/>
              <a:cs typeface="Arial"/>
              <a:sym typeface="Arial"/>
            </a:endParaRPr>
          </a:p>
          <a:p>
            <a:pPr indent="0" lvl="0" marL="0" rtl="0" algn="l">
              <a:lnSpc>
                <a:spcPct val="95000"/>
              </a:lnSpc>
              <a:spcBef>
                <a:spcPts val="1200"/>
              </a:spcBef>
              <a:spcAft>
                <a:spcPts val="1200"/>
              </a:spcAft>
              <a:buSzPts val="852"/>
              <a:buNone/>
            </a:pPr>
            <a:r>
              <a:t/>
            </a:r>
            <a:endParaRPr sz="1030"/>
          </a:p>
        </p:txBody>
      </p:sp>
      <p:pic>
        <p:nvPicPr>
          <p:cNvPr id="220" name="Google Shape;220;p34" title="filename.png"/>
          <p:cNvPicPr preferRelativeResize="0"/>
          <p:nvPr/>
        </p:nvPicPr>
        <p:blipFill>
          <a:blip r:embed="rId3">
            <a:alphaModFix/>
          </a:blip>
          <a:stretch>
            <a:fillRect/>
          </a:stretch>
        </p:blipFill>
        <p:spPr>
          <a:xfrm>
            <a:off x="3402475" y="265250"/>
            <a:ext cx="5534525" cy="46130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5"/>
          <p:cNvSpPr txBox="1"/>
          <p:nvPr>
            <p:ph type="title"/>
          </p:nvPr>
        </p:nvSpPr>
        <p:spPr>
          <a:xfrm>
            <a:off x="226078" y="195800"/>
            <a:ext cx="2808000" cy="953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sz="2150"/>
              <a:t>Stage 2: Bi-encoder Ensemble: Bridging the Semantic Gap</a:t>
            </a:r>
            <a:endParaRPr b="1" sz="2150"/>
          </a:p>
        </p:txBody>
      </p:sp>
      <p:sp>
        <p:nvSpPr>
          <p:cNvPr id="226" name="Google Shape;226;p35"/>
          <p:cNvSpPr txBox="1"/>
          <p:nvPr>
            <p:ph idx="1" type="body"/>
          </p:nvPr>
        </p:nvSpPr>
        <p:spPr>
          <a:xfrm>
            <a:off x="226075" y="1081700"/>
            <a:ext cx="2808000" cy="3661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b="1" lang="en" sz="1100"/>
              <a:t>Objective:</a:t>
            </a:r>
            <a:r>
              <a:rPr lang="en" sz="1100"/>
              <a:t> Address the "Vocabulary Mismatch" in ToT queries by capturing deep semantic signals (High-Recall Filter).</a:t>
            </a:r>
            <a:endParaRPr sz="1100"/>
          </a:p>
          <a:p>
            <a:pPr indent="0" lvl="0" marL="0" rtl="0" algn="l">
              <a:lnSpc>
                <a:spcPct val="95000"/>
              </a:lnSpc>
              <a:spcBef>
                <a:spcPts val="0"/>
              </a:spcBef>
              <a:spcAft>
                <a:spcPts val="0"/>
              </a:spcAft>
              <a:buSzPts val="935"/>
              <a:buNone/>
            </a:pPr>
            <a:r>
              <a:t/>
            </a:r>
            <a:endParaRPr sz="1100"/>
          </a:p>
          <a:p>
            <a:pPr indent="0" lvl="0" marL="0" rtl="0" algn="l">
              <a:lnSpc>
                <a:spcPct val="95000"/>
              </a:lnSpc>
              <a:spcBef>
                <a:spcPts val="0"/>
              </a:spcBef>
              <a:spcAft>
                <a:spcPts val="0"/>
              </a:spcAft>
              <a:buSzPts val="935"/>
              <a:buNone/>
            </a:pPr>
            <a:r>
              <a:rPr b="1" lang="en" sz="1100"/>
              <a:t>The Ensemble Approach:</a:t>
            </a:r>
            <a:r>
              <a:rPr lang="en" sz="1100"/>
              <a:t> Implemented a parallel architecture of three distinct bi-encoders:</a:t>
            </a:r>
            <a:endParaRPr sz="1100"/>
          </a:p>
          <a:p>
            <a:pPr indent="-298450" lvl="0" marL="457200" rtl="0" algn="l">
              <a:lnSpc>
                <a:spcPct val="95000"/>
              </a:lnSpc>
              <a:spcBef>
                <a:spcPts val="0"/>
              </a:spcBef>
              <a:spcAft>
                <a:spcPts val="0"/>
              </a:spcAft>
              <a:buClr>
                <a:schemeClr val="lt1"/>
              </a:buClr>
              <a:buSzPts val="1100"/>
              <a:buFont typeface="Arial"/>
              <a:buChar char="●"/>
            </a:pPr>
            <a:r>
              <a:rPr b="1" lang="en" sz="1100"/>
              <a:t>ColBERTv2.0:</a:t>
            </a:r>
            <a:r>
              <a:rPr lang="en" sz="1100"/>
              <a:t> Late-interaction model; retains token-level granularity for verbose queries.</a:t>
            </a:r>
            <a:endParaRPr sz="1100"/>
          </a:p>
          <a:p>
            <a:pPr indent="-298450" lvl="0" marL="457200" rtl="0" algn="l">
              <a:lnSpc>
                <a:spcPct val="95000"/>
              </a:lnSpc>
              <a:spcBef>
                <a:spcPts val="0"/>
              </a:spcBef>
              <a:spcAft>
                <a:spcPts val="0"/>
              </a:spcAft>
              <a:buClr>
                <a:schemeClr val="lt1"/>
              </a:buClr>
              <a:buSzPts val="1100"/>
              <a:buFont typeface="Arial"/>
              <a:buChar char="●"/>
            </a:pPr>
            <a:r>
              <a:rPr b="1" lang="en" sz="1100"/>
              <a:t>Contriever:</a:t>
            </a:r>
            <a:r>
              <a:rPr lang="en" sz="1100"/>
              <a:t> Contrastive learning model; excellent zero-shot robustness.</a:t>
            </a:r>
            <a:endParaRPr sz="1100"/>
          </a:p>
          <a:p>
            <a:pPr indent="-298450" lvl="0" marL="457200" rtl="0" algn="l">
              <a:lnSpc>
                <a:spcPct val="95000"/>
              </a:lnSpc>
              <a:spcBef>
                <a:spcPts val="0"/>
              </a:spcBef>
              <a:spcAft>
                <a:spcPts val="0"/>
              </a:spcAft>
              <a:buClr>
                <a:schemeClr val="lt1"/>
              </a:buClr>
              <a:buSzPts val="1100"/>
              <a:buFont typeface="Arial"/>
              <a:buChar char="●"/>
            </a:pPr>
            <a:r>
              <a:rPr b="1" lang="en" sz="1100"/>
              <a:t>E5-Large:</a:t>
            </a:r>
            <a:r>
              <a:rPr lang="en" sz="1100"/>
              <a:t> Weakly supervised; provides strong semantic matching.</a:t>
            </a:r>
            <a:endParaRPr sz="1100"/>
          </a:p>
          <a:p>
            <a:pPr indent="0" lvl="0" marL="0" rtl="0" algn="l">
              <a:lnSpc>
                <a:spcPct val="95000"/>
              </a:lnSpc>
              <a:spcBef>
                <a:spcPts val="1200"/>
              </a:spcBef>
              <a:spcAft>
                <a:spcPts val="0"/>
              </a:spcAft>
              <a:buSzPts val="935"/>
              <a:buNone/>
            </a:pPr>
            <a:r>
              <a:rPr b="1" lang="en" sz="1100"/>
              <a:t>Fusion Mechanism:</a:t>
            </a:r>
            <a:endParaRPr b="1" sz="1100"/>
          </a:p>
          <a:p>
            <a:pPr indent="-298450" lvl="0" marL="457200" rtl="0" algn="l">
              <a:lnSpc>
                <a:spcPct val="95000"/>
              </a:lnSpc>
              <a:spcBef>
                <a:spcPts val="0"/>
              </a:spcBef>
              <a:spcAft>
                <a:spcPts val="0"/>
              </a:spcAft>
              <a:buClr>
                <a:schemeClr val="lt1"/>
              </a:buClr>
              <a:buSzPts val="1100"/>
              <a:buFont typeface="Arial"/>
              <a:buChar char="●"/>
            </a:pPr>
            <a:r>
              <a:rPr lang="en" sz="1100"/>
              <a:t>Outputs combined via </a:t>
            </a:r>
            <a:r>
              <a:rPr b="1" lang="en" sz="1100"/>
              <a:t>Reciprocal Rank Fusion (RRF)</a:t>
            </a:r>
            <a:r>
              <a:rPr lang="en" sz="1100"/>
              <a:t> (k=60).</a:t>
            </a:r>
            <a:endParaRPr sz="1100"/>
          </a:p>
          <a:p>
            <a:pPr indent="-298450" lvl="0" marL="457200" rtl="0" algn="l">
              <a:lnSpc>
                <a:spcPct val="95000"/>
              </a:lnSpc>
              <a:spcBef>
                <a:spcPts val="0"/>
              </a:spcBef>
              <a:spcAft>
                <a:spcPts val="0"/>
              </a:spcAft>
              <a:buClr>
                <a:schemeClr val="lt1"/>
              </a:buClr>
              <a:buSzPts val="1100"/>
              <a:buFont typeface="Roboto"/>
              <a:buChar char="●"/>
            </a:pPr>
            <a:r>
              <a:rPr lang="en" sz="1100"/>
              <a:t>Result: A single, robust candidate list leveraging the strengths of all three architectures.</a:t>
            </a:r>
            <a:endParaRPr sz="1100"/>
          </a:p>
          <a:p>
            <a:pPr indent="0" lvl="0" marL="0" rtl="0" algn="l">
              <a:lnSpc>
                <a:spcPct val="95000"/>
              </a:lnSpc>
              <a:spcBef>
                <a:spcPts val="1200"/>
              </a:spcBef>
              <a:spcAft>
                <a:spcPts val="1200"/>
              </a:spcAft>
              <a:buSzPts val="935"/>
              <a:buNone/>
            </a:pPr>
            <a:r>
              <a:t/>
            </a:r>
            <a:endParaRPr sz="1100"/>
          </a:p>
        </p:txBody>
      </p:sp>
      <p:pic>
        <p:nvPicPr>
          <p:cNvPr id="227" name="Google Shape;227;p35" title="BM25 to Ensemble Ranker.png"/>
          <p:cNvPicPr preferRelativeResize="0"/>
          <p:nvPr/>
        </p:nvPicPr>
        <p:blipFill>
          <a:blip r:embed="rId3">
            <a:alphaModFix/>
          </a:blip>
          <a:stretch>
            <a:fillRect/>
          </a:stretch>
        </p:blipFill>
        <p:spPr>
          <a:xfrm>
            <a:off x="4572000" y="88438"/>
            <a:ext cx="3094450" cy="49666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50"/>
              <a:t>Stage 2: </a:t>
            </a:r>
            <a:r>
              <a:rPr b="1" lang="en" sz="2150"/>
              <a:t>Optimization Strategy: Robust Candidate Depth (K_dense)</a:t>
            </a:r>
            <a:endParaRPr b="1" sz="2150"/>
          </a:p>
        </p:txBody>
      </p:sp>
      <p:sp>
        <p:nvSpPr>
          <p:cNvPr id="233" name="Google Shape;233;p36"/>
          <p:cNvSpPr txBox="1"/>
          <p:nvPr/>
        </p:nvSpPr>
        <p:spPr>
          <a:xfrm>
            <a:off x="220500" y="828000"/>
            <a:ext cx="8923500" cy="431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700">
                <a:latin typeface="Roboto"/>
                <a:ea typeface="Roboto"/>
                <a:cs typeface="Roboto"/>
                <a:sym typeface="Roboto"/>
              </a:rPr>
              <a:t>The Challenge:</a:t>
            </a:r>
            <a:r>
              <a:rPr lang="en" sz="1700">
                <a:latin typeface="Roboto"/>
                <a:ea typeface="Roboto"/>
                <a:cs typeface="Roboto"/>
                <a:sym typeface="Roboto"/>
              </a:rPr>
              <a:t> Determining the optimal number of documents (K_dense) to pass to the next stage.</a:t>
            </a:r>
            <a:endParaRPr sz="1700">
              <a:latin typeface="Roboto"/>
              <a:ea typeface="Roboto"/>
              <a:cs typeface="Roboto"/>
              <a:sym typeface="Roboto"/>
            </a:endParaRPr>
          </a:p>
          <a:p>
            <a:pPr indent="0" lvl="0" marL="0" rtl="0" algn="l">
              <a:lnSpc>
                <a:spcPct val="115000"/>
              </a:lnSpc>
              <a:spcBef>
                <a:spcPts val="0"/>
              </a:spcBef>
              <a:spcAft>
                <a:spcPts val="0"/>
              </a:spcAft>
              <a:buNone/>
            </a:pPr>
            <a:r>
              <a:rPr b="1" lang="en" sz="1700">
                <a:latin typeface="Roboto"/>
                <a:ea typeface="Roboto"/>
                <a:cs typeface="Roboto"/>
                <a:sym typeface="Roboto"/>
              </a:rPr>
              <a:t>Metric Shift:</a:t>
            </a:r>
            <a:endParaRPr b="1" sz="1700">
              <a:latin typeface="Roboto"/>
              <a:ea typeface="Roboto"/>
              <a:cs typeface="Roboto"/>
              <a:sym typeface="Roboto"/>
            </a:endParaRPr>
          </a:p>
          <a:p>
            <a:pPr indent="-336550" lvl="0" marL="457200" rtl="0" algn="l">
              <a:lnSpc>
                <a:spcPct val="115000"/>
              </a:lnSpc>
              <a:spcBef>
                <a:spcPts val="0"/>
              </a:spcBef>
              <a:spcAft>
                <a:spcPts val="0"/>
              </a:spcAft>
              <a:buSzPts val="1700"/>
              <a:buChar char="●"/>
            </a:pPr>
            <a:r>
              <a:rPr lang="en" sz="1700">
                <a:latin typeface="Roboto"/>
                <a:ea typeface="Roboto"/>
                <a:cs typeface="Roboto"/>
                <a:sym typeface="Roboto"/>
              </a:rPr>
              <a:t>Unlike Stage 1 (optimized for nDCG), Stage 2 is optimized purely for </a:t>
            </a:r>
            <a:r>
              <a:rPr b="1" lang="en" sz="1700">
                <a:latin typeface="Roboto"/>
                <a:ea typeface="Roboto"/>
                <a:cs typeface="Roboto"/>
                <a:sym typeface="Roboto"/>
              </a:rPr>
              <a:t>Recall</a:t>
            </a:r>
            <a:r>
              <a:rPr lang="en" sz="1700">
                <a:latin typeface="Roboto"/>
                <a:ea typeface="Roboto"/>
                <a:cs typeface="Roboto"/>
                <a:sym typeface="Roboto"/>
              </a:rPr>
              <a:t>.</a:t>
            </a:r>
            <a:endParaRPr sz="1700">
              <a:latin typeface="Roboto"/>
              <a:ea typeface="Roboto"/>
              <a:cs typeface="Roboto"/>
              <a:sym typeface="Roboto"/>
            </a:endParaRPr>
          </a:p>
          <a:p>
            <a:pPr indent="-336550" lvl="0" marL="457200" rtl="0" algn="l">
              <a:lnSpc>
                <a:spcPct val="115000"/>
              </a:lnSpc>
              <a:spcBef>
                <a:spcPts val="0"/>
              </a:spcBef>
              <a:spcAft>
                <a:spcPts val="0"/>
              </a:spcAft>
              <a:buSzPts val="1700"/>
              <a:buFont typeface="Roboto"/>
              <a:buChar char="●"/>
            </a:pPr>
            <a:r>
              <a:rPr i="1" lang="en" sz="1700">
                <a:latin typeface="Roboto"/>
                <a:ea typeface="Roboto"/>
                <a:cs typeface="Roboto"/>
                <a:sym typeface="Roboto"/>
              </a:rPr>
              <a:t>Goal:</a:t>
            </a:r>
            <a:r>
              <a:rPr lang="en" sz="1700">
                <a:latin typeface="Roboto"/>
                <a:ea typeface="Roboto"/>
                <a:cs typeface="Roboto"/>
                <a:sym typeface="Roboto"/>
              </a:rPr>
              <a:t> Ensure the relevant document survives the filter.</a:t>
            </a:r>
            <a:endParaRPr sz="1700">
              <a:latin typeface="Roboto"/>
              <a:ea typeface="Roboto"/>
              <a:cs typeface="Roboto"/>
              <a:sym typeface="Roboto"/>
            </a:endParaRPr>
          </a:p>
          <a:p>
            <a:pPr indent="0" lvl="0" marL="0" rtl="0" algn="l">
              <a:lnSpc>
                <a:spcPct val="115000"/>
              </a:lnSpc>
              <a:spcBef>
                <a:spcPts val="1200"/>
              </a:spcBef>
              <a:spcAft>
                <a:spcPts val="0"/>
              </a:spcAft>
              <a:buNone/>
            </a:pPr>
            <a:r>
              <a:rPr b="1" lang="en" sz="1700">
                <a:latin typeface="Roboto"/>
                <a:ea typeface="Roboto"/>
                <a:cs typeface="Roboto"/>
                <a:sym typeface="Roboto"/>
              </a:rPr>
              <a:t>Robust Aggregate Tuning:</a:t>
            </a:r>
            <a:endParaRPr b="1" sz="1700">
              <a:latin typeface="Roboto"/>
              <a:ea typeface="Roboto"/>
              <a:cs typeface="Roboto"/>
              <a:sym typeface="Roboto"/>
            </a:endParaRPr>
          </a:p>
          <a:p>
            <a:pPr indent="-336550" lvl="0" marL="457200" rtl="0" algn="l">
              <a:lnSpc>
                <a:spcPct val="115000"/>
              </a:lnSpc>
              <a:spcBef>
                <a:spcPts val="0"/>
              </a:spcBef>
              <a:spcAft>
                <a:spcPts val="0"/>
              </a:spcAft>
              <a:buSzPts val="1700"/>
              <a:buFont typeface="Roboto"/>
              <a:buChar char="●"/>
            </a:pPr>
            <a:r>
              <a:rPr lang="en" sz="1700">
                <a:latin typeface="Roboto"/>
                <a:ea typeface="Roboto"/>
                <a:cs typeface="Roboto"/>
                <a:sym typeface="Roboto"/>
              </a:rPr>
              <a:t>Avoids overfitting to a single split by penalizing instability.</a:t>
            </a:r>
            <a:endParaRPr sz="1700">
              <a:latin typeface="Roboto"/>
              <a:ea typeface="Roboto"/>
              <a:cs typeface="Roboto"/>
              <a:sym typeface="Roboto"/>
            </a:endParaRPr>
          </a:p>
          <a:p>
            <a:pPr indent="-336550" lvl="0" marL="457200" rtl="0" algn="l">
              <a:lnSpc>
                <a:spcPct val="115000"/>
              </a:lnSpc>
              <a:spcBef>
                <a:spcPts val="0"/>
              </a:spcBef>
              <a:spcAft>
                <a:spcPts val="0"/>
              </a:spcAft>
              <a:buSzPts val="1700"/>
              <a:buChar char="●"/>
            </a:pPr>
            <a:r>
              <a:rPr b="1" lang="en" sz="1700">
                <a:latin typeface="Roboto"/>
                <a:ea typeface="Roboto"/>
                <a:cs typeface="Roboto"/>
                <a:sym typeface="Roboto"/>
              </a:rPr>
              <a:t>Formula:</a:t>
            </a:r>
            <a:r>
              <a:rPr lang="en" sz="1700">
                <a:latin typeface="Roboto"/>
                <a:ea typeface="Roboto"/>
                <a:cs typeface="Roboto"/>
                <a:sym typeface="Roboto"/>
              </a:rPr>
              <a:t> </a:t>
            </a:r>
            <a:endParaRPr sz="1700">
              <a:latin typeface="Roboto"/>
              <a:ea typeface="Roboto"/>
              <a:cs typeface="Roboto"/>
              <a:sym typeface="Roboto"/>
            </a:endParaRPr>
          </a:p>
          <a:p>
            <a:pPr indent="-336550" lvl="0" marL="457200" rtl="0" algn="l">
              <a:lnSpc>
                <a:spcPct val="115000"/>
              </a:lnSpc>
              <a:spcBef>
                <a:spcPts val="0"/>
              </a:spcBef>
              <a:spcAft>
                <a:spcPts val="0"/>
              </a:spcAft>
              <a:buSzPts val="1700"/>
              <a:buChar char="●"/>
            </a:pPr>
            <a:r>
              <a:rPr lang="en" sz="1700">
                <a:latin typeface="Roboto"/>
                <a:ea typeface="Roboto"/>
                <a:cs typeface="Roboto"/>
                <a:sym typeface="Roboto"/>
              </a:rPr>
              <a:t>Selects a depth that performs consistently across Train, Dev1, and Dev2.</a:t>
            </a:r>
            <a:endParaRPr sz="1700">
              <a:latin typeface="Roboto"/>
              <a:ea typeface="Roboto"/>
              <a:cs typeface="Roboto"/>
              <a:sym typeface="Roboto"/>
            </a:endParaRPr>
          </a:p>
          <a:p>
            <a:pPr indent="0" lvl="0" marL="0" rtl="0" algn="l">
              <a:lnSpc>
                <a:spcPct val="115000"/>
              </a:lnSpc>
              <a:spcBef>
                <a:spcPts val="1200"/>
              </a:spcBef>
              <a:spcAft>
                <a:spcPts val="0"/>
              </a:spcAft>
              <a:buNone/>
            </a:pPr>
            <a:r>
              <a:rPr b="1" lang="en" sz="1700">
                <a:latin typeface="Roboto"/>
                <a:ea typeface="Roboto"/>
                <a:cs typeface="Roboto"/>
                <a:sym typeface="Roboto"/>
              </a:rPr>
              <a:t>Efficiency:</a:t>
            </a:r>
            <a:r>
              <a:rPr lang="en" sz="1700">
                <a:latin typeface="Roboto"/>
                <a:ea typeface="Roboto"/>
                <a:cs typeface="Roboto"/>
                <a:sym typeface="Roboto"/>
              </a:rPr>
              <a:t> Used </a:t>
            </a:r>
            <a:r>
              <a:rPr b="1" lang="en" sz="1700">
                <a:latin typeface="Roboto"/>
                <a:ea typeface="Roboto"/>
                <a:cs typeface="Roboto"/>
                <a:sym typeface="Roboto"/>
              </a:rPr>
              <a:t>"Virtual Tuning"</a:t>
            </a:r>
            <a:r>
              <a:rPr lang="en" sz="1700">
                <a:latin typeface="Roboto"/>
                <a:ea typeface="Roboto"/>
                <a:cs typeface="Roboto"/>
                <a:sym typeface="Roboto"/>
              </a:rPr>
              <a:t> (running inference once for Top-5k and slicing results) to rapidly test thousands of (K_dense) values.</a:t>
            </a:r>
            <a:endParaRPr sz="1700">
              <a:solidFill>
                <a:schemeClr val="lt2"/>
              </a:solidFill>
              <a:latin typeface="Roboto"/>
              <a:ea typeface="Roboto"/>
              <a:cs typeface="Roboto"/>
              <a:sym typeface="Roboto"/>
            </a:endParaRPr>
          </a:p>
        </p:txBody>
      </p:sp>
      <p:pic>
        <p:nvPicPr>
          <p:cNvPr id="234" name="Google Shape;234;p36" title="equation.png"/>
          <p:cNvPicPr preferRelativeResize="0"/>
          <p:nvPr/>
        </p:nvPicPr>
        <p:blipFill>
          <a:blip r:embed="rId3">
            <a:alphaModFix/>
          </a:blip>
          <a:stretch>
            <a:fillRect/>
          </a:stretch>
        </p:blipFill>
        <p:spPr>
          <a:xfrm>
            <a:off x="1602025" y="2841650"/>
            <a:ext cx="2542475" cy="9158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7"/>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en" sz="2060"/>
              <a:t>Stage 2: Performance Analysis: Ranking Degradation vs. Recall Stability</a:t>
            </a:r>
            <a:endParaRPr b="1" sz="2060"/>
          </a:p>
        </p:txBody>
      </p:sp>
      <p:sp>
        <p:nvSpPr>
          <p:cNvPr id="240" name="Google Shape;240;p37"/>
          <p:cNvSpPr txBox="1"/>
          <p:nvPr>
            <p:ph idx="4294967295" type="body"/>
          </p:nvPr>
        </p:nvSpPr>
        <p:spPr>
          <a:xfrm>
            <a:off x="181025" y="841225"/>
            <a:ext cx="4016100" cy="3593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852"/>
              <a:buNone/>
            </a:pPr>
            <a:r>
              <a:rPr b="1" lang="en" sz="1252">
                <a:solidFill>
                  <a:srgbClr val="010101"/>
                </a:solidFill>
                <a:latin typeface="Arial"/>
                <a:ea typeface="Arial"/>
                <a:cs typeface="Arial"/>
                <a:sym typeface="Arial"/>
              </a:rPr>
              <a:t>Observation:</a:t>
            </a:r>
            <a:endParaRPr b="1" sz="1252">
              <a:solidFill>
                <a:srgbClr val="010101"/>
              </a:solidFill>
              <a:latin typeface="Arial"/>
              <a:ea typeface="Arial"/>
              <a:cs typeface="Arial"/>
              <a:sym typeface="Arial"/>
            </a:endParaRPr>
          </a:p>
          <a:p>
            <a:pPr indent="-308133" lvl="0" marL="457200" rtl="0" algn="l">
              <a:lnSpc>
                <a:spcPct val="105000"/>
              </a:lnSpc>
              <a:spcBef>
                <a:spcPts val="0"/>
              </a:spcBef>
              <a:spcAft>
                <a:spcPts val="0"/>
              </a:spcAft>
              <a:buClr>
                <a:srgbClr val="010101"/>
              </a:buClr>
              <a:buSzPts val="1253"/>
              <a:buFont typeface="Arial"/>
              <a:buChar char="●"/>
            </a:pPr>
            <a:r>
              <a:rPr lang="en" sz="1252">
                <a:solidFill>
                  <a:srgbClr val="010101"/>
                </a:solidFill>
                <a:latin typeface="Arial"/>
                <a:ea typeface="Arial"/>
                <a:cs typeface="Arial"/>
                <a:sym typeface="Arial"/>
              </a:rPr>
              <a:t>Performance plateaued decisively across all three dense models.</a:t>
            </a:r>
            <a:endParaRPr sz="1252">
              <a:solidFill>
                <a:srgbClr val="010101"/>
              </a:solidFill>
              <a:latin typeface="Arial"/>
              <a:ea typeface="Arial"/>
              <a:cs typeface="Arial"/>
              <a:sym typeface="Arial"/>
            </a:endParaRPr>
          </a:p>
          <a:p>
            <a:pPr indent="-308133" lvl="0" marL="457200" rtl="0" algn="l">
              <a:lnSpc>
                <a:spcPct val="105000"/>
              </a:lnSpc>
              <a:spcBef>
                <a:spcPts val="0"/>
              </a:spcBef>
              <a:spcAft>
                <a:spcPts val="0"/>
              </a:spcAft>
              <a:buClr>
                <a:srgbClr val="010101"/>
              </a:buClr>
              <a:buSzPts val="1253"/>
              <a:buFont typeface="Arial"/>
              <a:buChar char="●"/>
            </a:pPr>
            <a:r>
              <a:rPr lang="en" sz="1252">
                <a:solidFill>
                  <a:srgbClr val="010101"/>
                </a:solidFill>
                <a:latin typeface="Arial"/>
                <a:ea typeface="Arial"/>
                <a:cs typeface="Arial"/>
                <a:sym typeface="Arial"/>
              </a:rPr>
              <a:t>Increasing candidate depth (K) from </a:t>
            </a:r>
            <a:r>
              <a:rPr b="1" lang="en" sz="1252">
                <a:solidFill>
                  <a:srgbClr val="010101"/>
                </a:solidFill>
                <a:latin typeface="Arial"/>
                <a:ea typeface="Arial"/>
                <a:cs typeface="Arial"/>
                <a:sym typeface="Arial"/>
              </a:rPr>
              <a:t>1,000 to 5,000</a:t>
            </a:r>
            <a:r>
              <a:rPr lang="en" sz="1252">
                <a:solidFill>
                  <a:srgbClr val="010101"/>
                </a:solidFill>
                <a:latin typeface="Arial"/>
                <a:ea typeface="Arial"/>
                <a:cs typeface="Arial"/>
                <a:sym typeface="Arial"/>
              </a:rPr>
              <a:t> yielded </a:t>
            </a:r>
            <a:r>
              <a:rPr b="1" lang="en" sz="1252">
                <a:solidFill>
                  <a:srgbClr val="010101"/>
                </a:solidFill>
                <a:latin typeface="Arial"/>
                <a:ea typeface="Arial"/>
                <a:cs typeface="Arial"/>
                <a:sym typeface="Arial"/>
              </a:rPr>
              <a:t>zero improvement</a:t>
            </a:r>
            <a:r>
              <a:rPr lang="en" sz="1252">
                <a:solidFill>
                  <a:srgbClr val="010101"/>
                </a:solidFill>
                <a:latin typeface="Arial"/>
                <a:ea typeface="Arial"/>
                <a:cs typeface="Arial"/>
                <a:sym typeface="Arial"/>
              </a:rPr>
              <a:t> in Robust Score or Mean Recall.</a:t>
            </a:r>
            <a:endParaRPr sz="1252">
              <a:solidFill>
                <a:srgbClr val="010101"/>
              </a:solidFill>
              <a:latin typeface="Arial"/>
              <a:ea typeface="Arial"/>
              <a:cs typeface="Arial"/>
              <a:sym typeface="Arial"/>
            </a:endParaRPr>
          </a:p>
          <a:p>
            <a:pPr indent="0" lvl="0" marL="0" rtl="0" algn="l">
              <a:lnSpc>
                <a:spcPct val="105000"/>
              </a:lnSpc>
              <a:spcBef>
                <a:spcPts val="1200"/>
              </a:spcBef>
              <a:spcAft>
                <a:spcPts val="0"/>
              </a:spcAft>
              <a:buSzPts val="852"/>
              <a:buNone/>
            </a:pPr>
            <a:r>
              <a:rPr b="1" lang="en" sz="1252">
                <a:solidFill>
                  <a:srgbClr val="010101"/>
                </a:solidFill>
                <a:latin typeface="Arial"/>
                <a:ea typeface="Arial"/>
                <a:cs typeface="Arial"/>
                <a:sym typeface="Arial"/>
              </a:rPr>
              <a:t>The "Recall Ceiling" Phenomenon:</a:t>
            </a:r>
            <a:endParaRPr b="1" sz="1252">
              <a:solidFill>
                <a:srgbClr val="010101"/>
              </a:solidFill>
              <a:latin typeface="Arial"/>
              <a:ea typeface="Arial"/>
              <a:cs typeface="Arial"/>
              <a:sym typeface="Arial"/>
            </a:endParaRPr>
          </a:p>
          <a:p>
            <a:pPr indent="-308133" lvl="0" marL="457200" rtl="0" algn="l">
              <a:lnSpc>
                <a:spcPct val="105000"/>
              </a:lnSpc>
              <a:spcBef>
                <a:spcPts val="0"/>
              </a:spcBef>
              <a:spcAft>
                <a:spcPts val="0"/>
              </a:spcAft>
              <a:buClr>
                <a:srgbClr val="010101"/>
              </a:buClr>
              <a:buSzPts val="1253"/>
              <a:buFont typeface="Arial"/>
              <a:buChar char="●"/>
            </a:pPr>
            <a:r>
              <a:rPr lang="en" sz="1252">
                <a:solidFill>
                  <a:srgbClr val="010101"/>
                </a:solidFill>
                <a:latin typeface="Arial"/>
                <a:ea typeface="Arial"/>
                <a:cs typeface="Arial"/>
                <a:sym typeface="Arial"/>
              </a:rPr>
              <a:t>The maximum recoverable recall is strictly determined by the top-1000 documents retrieved by the previous (Sparse) stage.</a:t>
            </a:r>
            <a:endParaRPr sz="1252">
              <a:solidFill>
                <a:srgbClr val="010101"/>
              </a:solidFill>
              <a:latin typeface="Arial"/>
              <a:ea typeface="Arial"/>
              <a:cs typeface="Arial"/>
              <a:sym typeface="Arial"/>
            </a:endParaRPr>
          </a:p>
          <a:p>
            <a:pPr indent="-308133" lvl="0" marL="457200" rtl="0" algn="l">
              <a:lnSpc>
                <a:spcPct val="105000"/>
              </a:lnSpc>
              <a:spcBef>
                <a:spcPts val="0"/>
              </a:spcBef>
              <a:spcAft>
                <a:spcPts val="0"/>
              </a:spcAft>
              <a:buClr>
                <a:srgbClr val="010101"/>
              </a:buClr>
              <a:buSzPts val="1253"/>
              <a:buFont typeface="Arial"/>
              <a:buChar char="●"/>
            </a:pPr>
            <a:r>
              <a:rPr lang="en" sz="1252">
                <a:solidFill>
                  <a:srgbClr val="010101"/>
                </a:solidFill>
                <a:latin typeface="Arial"/>
                <a:ea typeface="Arial"/>
                <a:cs typeface="Arial"/>
                <a:sym typeface="Arial"/>
              </a:rPr>
              <a:t>The Dense stage cannot "find" documents that the Sparse stage did not retrieve.</a:t>
            </a:r>
            <a:endParaRPr sz="1252">
              <a:solidFill>
                <a:srgbClr val="010101"/>
              </a:solidFill>
              <a:latin typeface="Arial"/>
              <a:ea typeface="Arial"/>
              <a:cs typeface="Arial"/>
              <a:sym typeface="Arial"/>
            </a:endParaRPr>
          </a:p>
          <a:p>
            <a:pPr indent="0" lvl="0" marL="0" rtl="0" algn="l">
              <a:lnSpc>
                <a:spcPct val="105000"/>
              </a:lnSpc>
              <a:spcBef>
                <a:spcPts val="1200"/>
              </a:spcBef>
              <a:spcAft>
                <a:spcPts val="0"/>
              </a:spcAft>
              <a:buSzPts val="852"/>
              <a:buNone/>
            </a:pPr>
            <a:r>
              <a:rPr b="1" lang="en" sz="1252">
                <a:solidFill>
                  <a:srgbClr val="010101"/>
                </a:solidFill>
                <a:latin typeface="Arial"/>
                <a:ea typeface="Arial"/>
                <a:cs typeface="Arial"/>
                <a:sym typeface="Arial"/>
              </a:rPr>
              <a:t>Decision:</a:t>
            </a:r>
            <a:endParaRPr b="1" sz="1252">
              <a:solidFill>
                <a:srgbClr val="010101"/>
              </a:solidFill>
              <a:latin typeface="Arial"/>
              <a:ea typeface="Arial"/>
              <a:cs typeface="Arial"/>
              <a:sym typeface="Arial"/>
            </a:endParaRPr>
          </a:p>
          <a:p>
            <a:pPr indent="-308133" lvl="0" marL="457200" rtl="0" algn="l">
              <a:lnSpc>
                <a:spcPct val="105000"/>
              </a:lnSpc>
              <a:spcBef>
                <a:spcPts val="0"/>
              </a:spcBef>
              <a:spcAft>
                <a:spcPts val="0"/>
              </a:spcAft>
              <a:buClr>
                <a:srgbClr val="010101"/>
              </a:buClr>
              <a:buSzPts val="1253"/>
              <a:buFont typeface="Arial"/>
              <a:buChar char="●"/>
            </a:pPr>
            <a:r>
              <a:rPr lang="en" sz="1252">
                <a:solidFill>
                  <a:srgbClr val="010101"/>
                </a:solidFill>
                <a:latin typeface="Arial"/>
                <a:ea typeface="Arial"/>
                <a:cs typeface="Arial"/>
                <a:sym typeface="Arial"/>
              </a:rPr>
              <a:t>Selected </a:t>
            </a:r>
            <a:r>
              <a:rPr b="1" lang="en" sz="1252">
                <a:solidFill>
                  <a:srgbClr val="010101"/>
                </a:solidFill>
                <a:latin typeface="Arial"/>
                <a:ea typeface="Arial"/>
                <a:cs typeface="Arial"/>
                <a:sym typeface="Arial"/>
              </a:rPr>
              <a:t>K = 1000</a:t>
            </a:r>
            <a:r>
              <a:rPr lang="en" sz="1252">
                <a:solidFill>
                  <a:srgbClr val="010101"/>
                </a:solidFill>
                <a:latin typeface="Arial"/>
                <a:ea typeface="Arial"/>
                <a:cs typeface="Arial"/>
                <a:sym typeface="Arial"/>
              </a:rPr>
              <a:t> as the optimal cutoff.</a:t>
            </a:r>
            <a:endParaRPr sz="1252">
              <a:solidFill>
                <a:srgbClr val="010101"/>
              </a:solidFill>
              <a:latin typeface="Arial"/>
              <a:ea typeface="Arial"/>
              <a:cs typeface="Arial"/>
              <a:sym typeface="Arial"/>
            </a:endParaRPr>
          </a:p>
          <a:p>
            <a:pPr indent="-308133" lvl="0" marL="457200" rtl="0" algn="l">
              <a:lnSpc>
                <a:spcPct val="105000"/>
              </a:lnSpc>
              <a:spcBef>
                <a:spcPts val="0"/>
              </a:spcBef>
              <a:spcAft>
                <a:spcPts val="0"/>
              </a:spcAft>
              <a:buClr>
                <a:srgbClr val="010101"/>
              </a:buClr>
              <a:buSzPts val="1253"/>
              <a:buFont typeface="Arial"/>
              <a:buChar char="●"/>
            </a:pPr>
            <a:r>
              <a:rPr i="1" lang="en" sz="1252">
                <a:solidFill>
                  <a:srgbClr val="010101"/>
                </a:solidFill>
                <a:latin typeface="Arial"/>
                <a:ea typeface="Arial"/>
                <a:cs typeface="Arial"/>
                <a:sym typeface="Arial"/>
              </a:rPr>
              <a:t>Rationale:</a:t>
            </a:r>
            <a:r>
              <a:rPr lang="en" sz="1252">
                <a:solidFill>
                  <a:srgbClr val="010101"/>
                </a:solidFill>
                <a:latin typeface="Arial"/>
                <a:ea typeface="Arial"/>
                <a:cs typeface="Arial"/>
                <a:sym typeface="Arial"/>
              </a:rPr>
              <a:t> Fetching candidates beyond this point incurs computational cost with absolutely no potential gain in coverage.</a:t>
            </a:r>
            <a:endParaRPr sz="1330">
              <a:solidFill>
                <a:srgbClr val="010101"/>
              </a:solidFill>
            </a:endParaRPr>
          </a:p>
        </p:txBody>
      </p:sp>
      <p:pic>
        <p:nvPicPr>
          <p:cNvPr id="241" name="Google Shape;241;p37"/>
          <p:cNvPicPr preferRelativeResize="0"/>
          <p:nvPr/>
        </p:nvPicPr>
        <p:blipFill>
          <a:blip r:embed="rId3">
            <a:alphaModFix/>
          </a:blip>
          <a:stretch>
            <a:fillRect/>
          </a:stretch>
        </p:blipFill>
        <p:spPr>
          <a:xfrm>
            <a:off x="4282775" y="1676725"/>
            <a:ext cx="4642076" cy="1611832"/>
          </a:xfrm>
          <a:prstGeom prst="rect">
            <a:avLst/>
          </a:prstGeom>
          <a:noFill/>
          <a:ln>
            <a:noFill/>
          </a:ln>
        </p:spPr>
      </p:pic>
      <p:sp>
        <p:nvSpPr>
          <p:cNvPr id="242" name="Google Shape;242;p37"/>
          <p:cNvSpPr txBox="1"/>
          <p:nvPr/>
        </p:nvSpPr>
        <p:spPr>
          <a:xfrm>
            <a:off x="4583775" y="3282700"/>
            <a:ext cx="40161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latin typeface="Roboto"/>
                <a:ea typeface="Roboto"/>
                <a:cs typeface="Roboto"/>
                <a:sym typeface="Roboto"/>
              </a:rPr>
              <a:t>Table: Results of Robust Candidate Depth Tuning for ColBERT.The performance plateaus at 𝐾=1000, </a:t>
            </a:r>
            <a:r>
              <a:rPr b="1" lang="en" sz="1100">
                <a:latin typeface="Roboto"/>
                <a:ea typeface="Roboto"/>
                <a:cs typeface="Roboto"/>
                <a:sym typeface="Roboto"/>
              </a:rPr>
              <a:t>indicating</a:t>
            </a:r>
            <a:r>
              <a:rPr b="1" lang="en" sz="1100">
                <a:latin typeface="Roboto"/>
                <a:ea typeface="Roboto"/>
                <a:cs typeface="Roboto"/>
                <a:sym typeface="Roboto"/>
              </a:rPr>
              <a:t> that deeper sparse retrieval yields no added relevant documents.</a:t>
            </a:r>
            <a:endParaRPr b="1" sz="1100">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8"/>
          <p:cNvSpPr txBox="1"/>
          <p:nvPr>
            <p:ph type="title"/>
          </p:nvPr>
        </p:nvSpPr>
        <p:spPr>
          <a:xfrm>
            <a:off x="98250" y="16350"/>
            <a:ext cx="9045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50"/>
              <a:t>Stage 2: Performance Analysis: Ranking Degradation vs. Recall Stability</a:t>
            </a:r>
            <a:endParaRPr b="1" sz="2150"/>
          </a:p>
        </p:txBody>
      </p:sp>
      <p:sp>
        <p:nvSpPr>
          <p:cNvPr id="248" name="Google Shape;248;p38"/>
          <p:cNvSpPr txBox="1"/>
          <p:nvPr/>
        </p:nvSpPr>
        <p:spPr>
          <a:xfrm>
            <a:off x="98250" y="704100"/>
            <a:ext cx="4539900" cy="423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latin typeface="Roboto"/>
                <a:ea typeface="Roboto"/>
                <a:cs typeface="Roboto"/>
                <a:sym typeface="Roboto"/>
              </a:rPr>
              <a:t>The Phenomenon:</a:t>
            </a:r>
            <a:endParaRPr b="1"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Comparison of Input (Mistral BM25) vs. Output (Dense Fusion) reveals a critical divergence.</a:t>
            </a:r>
            <a:endParaRPr sz="1200">
              <a:latin typeface="Roboto"/>
              <a:ea typeface="Roboto"/>
              <a:cs typeface="Roboto"/>
              <a:sym typeface="Roboto"/>
            </a:endParaRPr>
          </a:p>
          <a:p>
            <a:pPr indent="0" lvl="0" marL="0" rtl="0" algn="l">
              <a:lnSpc>
                <a:spcPct val="115000"/>
              </a:lnSpc>
              <a:spcBef>
                <a:spcPts val="1200"/>
              </a:spcBef>
              <a:spcAft>
                <a:spcPts val="0"/>
              </a:spcAft>
              <a:buNone/>
            </a:pPr>
            <a:r>
              <a:rPr b="1" lang="en" sz="1200">
                <a:latin typeface="Roboto"/>
                <a:ea typeface="Roboto"/>
                <a:cs typeface="Roboto"/>
                <a:sym typeface="Roboto"/>
              </a:rPr>
              <a:t>1. Ranking Degradation (nDCG@10 ↓18%) on P</a:t>
            </a:r>
            <a:r>
              <a:rPr b="1" lang="en" sz="1200">
                <a:latin typeface="Roboto"/>
                <a:ea typeface="Roboto"/>
                <a:cs typeface="Roboto"/>
                <a:sym typeface="Roboto"/>
              </a:rPr>
              <a:t>seudo</a:t>
            </a:r>
            <a:r>
              <a:rPr b="1" lang="en" sz="1200">
                <a:latin typeface="Roboto"/>
                <a:ea typeface="Roboto"/>
                <a:cs typeface="Roboto"/>
                <a:sym typeface="Roboto"/>
              </a:rPr>
              <a:t>-Test Set:</a:t>
            </a:r>
            <a:endParaRPr b="1"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i="1" lang="en" sz="1200">
                <a:latin typeface="Roboto"/>
                <a:ea typeface="Roboto"/>
                <a:cs typeface="Roboto"/>
                <a:sym typeface="Roboto"/>
              </a:rPr>
              <a:t>Cause:</a:t>
            </a:r>
            <a:r>
              <a:rPr lang="en" sz="1200">
                <a:latin typeface="Roboto"/>
                <a:ea typeface="Roboto"/>
                <a:cs typeface="Roboto"/>
                <a:sym typeface="Roboto"/>
              </a:rPr>
              <a:t> Mistral queries are "keyword-optimized" for BM25.</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Dense models, trained on natural semantic matching, likely penalized this "keyword-stuffing," pushing exact matches down in favor of broader semantic matches.</a:t>
            </a:r>
            <a:endParaRPr sz="1200">
              <a:latin typeface="Roboto"/>
              <a:ea typeface="Roboto"/>
              <a:cs typeface="Roboto"/>
              <a:sym typeface="Roboto"/>
            </a:endParaRPr>
          </a:p>
          <a:p>
            <a:pPr indent="0" lvl="0" marL="0" rtl="0" algn="l">
              <a:lnSpc>
                <a:spcPct val="115000"/>
              </a:lnSpc>
              <a:spcBef>
                <a:spcPts val="1200"/>
              </a:spcBef>
              <a:spcAft>
                <a:spcPts val="0"/>
              </a:spcAft>
              <a:buNone/>
            </a:pPr>
            <a:r>
              <a:rPr b="1" lang="en" sz="1200">
                <a:latin typeface="Roboto"/>
                <a:ea typeface="Roboto"/>
                <a:cs typeface="Roboto"/>
                <a:sym typeface="Roboto"/>
              </a:rPr>
              <a:t>2. Recall Stability (Recall@1000 Constant):</a:t>
            </a:r>
            <a:endParaRPr b="1"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b="1" lang="en" sz="1200">
                <a:latin typeface="Roboto"/>
                <a:ea typeface="Roboto"/>
                <a:cs typeface="Roboto"/>
                <a:sym typeface="Roboto"/>
              </a:rPr>
              <a:t>Recall remained identical at 0.8284.</a:t>
            </a:r>
            <a:endParaRPr b="1"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i="1" lang="en" sz="1200">
                <a:latin typeface="Roboto"/>
                <a:ea typeface="Roboto"/>
                <a:cs typeface="Roboto"/>
                <a:sym typeface="Roboto"/>
              </a:rPr>
              <a:t>Implication:</a:t>
            </a:r>
            <a:r>
              <a:rPr lang="en" sz="1200">
                <a:latin typeface="Roboto"/>
                <a:ea typeface="Roboto"/>
                <a:cs typeface="Roboto"/>
                <a:sym typeface="Roboto"/>
              </a:rPr>
              <a:t> No relevant documents were lost; they were merely displaced from the top 10 to lower positions (ranks 11–100).</a:t>
            </a:r>
            <a:endParaRPr sz="1200">
              <a:latin typeface="Roboto"/>
              <a:ea typeface="Roboto"/>
              <a:cs typeface="Roboto"/>
              <a:sym typeface="Roboto"/>
            </a:endParaRPr>
          </a:p>
          <a:p>
            <a:pPr indent="0" lvl="0" marL="0" rtl="0" algn="l">
              <a:lnSpc>
                <a:spcPct val="115000"/>
              </a:lnSpc>
              <a:spcBef>
                <a:spcPts val="1200"/>
              </a:spcBef>
              <a:spcAft>
                <a:spcPts val="0"/>
              </a:spcAft>
              <a:buNone/>
            </a:pPr>
            <a:r>
              <a:rPr b="1" lang="en" sz="1200">
                <a:latin typeface="Roboto"/>
                <a:ea typeface="Roboto"/>
                <a:cs typeface="Roboto"/>
                <a:sym typeface="Roboto"/>
              </a:rPr>
              <a:t>Strategic Decision:</a:t>
            </a:r>
            <a:endParaRPr b="1"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b="1" lang="en" sz="1200">
                <a:latin typeface="Roboto"/>
                <a:ea typeface="Roboto"/>
                <a:cs typeface="Roboto"/>
                <a:sym typeface="Roboto"/>
              </a:rPr>
              <a:t>Proceed with Dense Fusion.</a:t>
            </a:r>
            <a:endParaRPr b="1" sz="1200">
              <a:latin typeface="Roboto"/>
              <a:ea typeface="Roboto"/>
              <a:cs typeface="Roboto"/>
              <a:sym typeface="Roboto"/>
            </a:endParaRPr>
          </a:p>
          <a:p>
            <a:pPr indent="-304800" lvl="0" marL="457200" rtl="0" algn="l">
              <a:lnSpc>
                <a:spcPct val="115000"/>
              </a:lnSpc>
              <a:spcBef>
                <a:spcPts val="0"/>
              </a:spcBef>
              <a:spcAft>
                <a:spcPts val="0"/>
              </a:spcAft>
              <a:buSzPts val="1200"/>
              <a:buChar char="●"/>
            </a:pPr>
            <a:r>
              <a:rPr lang="en" sz="1200">
                <a:latin typeface="Roboto"/>
                <a:ea typeface="Roboto"/>
                <a:cs typeface="Roboto"/>
                <a:sym typeface="Roboto"/>
              </a:rPr>
              <a:t>We rely on the subsequent </a:t>
            </a:r>
            <a:r>
              <a:rPr b="1" lang="en" sz="1200">
                <a:latin typeface="Roboto"/>
                <a:ea typeface="Roboto"/>
                <a:cs typeface="Roboto"/>
                <a:sym typeface="Roboto"/>
              </a:rPr>
              <a:t>Cross-Encoder</a:t>
            </a:r>
            <a:r>
              <a:rPr lang="en" sz="1200">
                <a:latin typeface="Roboto"/>
                <a:ea typeface="Roboto"/>
                <a:cs typeface="Roboto"/>
                <a:sym typeface="Roboto"/>
              </a:rPr>
              <a:t> stage to repair the ranking order. The priority here was </a:t>
            </a:r>
            <a:r>
              <a:rPr i="1" lang="en" sz="1200">
                <a:latin typeface="Roboto"/>
                <a:ea typeface="Roboto"/>
                <a:cs typeface="Roboto"/>
                <a:sym typeface="Roboto"/>
              </a:rPr>
              <a:t>preserving</a:t>
            </a:r>
            <a:r>
              <a:rPr lang="en" sz="1200">
                <a:latin typeface="Roboto"/>
                <a:ea typeface="Roboto"/>
                <a:cs typeface="Roboto"/>
                <a:sym typeface="Roboto"/>
              </a:rPr>
              <a:t> the candidate pool, which was achieved.</a:t>
            </a:r>
            <a:endParaRPr sz="1200">
              <a:latin typeface="Roboto"/>
              <a:ea typeface="Roboto"/>
              <a:cs typeface="Roboto"/>
              <a:sym typeface="Roboto"/>
            </a:endParaRPr>
          </a:p>
          <a:p>
            <a:pPr indent="0" lvl="0" marL="0" rtl="0" algn="l">
              <a:spcBef>
                <a:spcPts val="1200"/>
              </a:spcBef>
              <a:spcAft>
                <a:spcPts val="0"/>
              </a:spcAft>
              <a:buNone/>
            </a:pPr>
            <a:r>
              <a:t/>
            </a:r>
            <a:endParaRPr sz="1900">
              <a:solidFill>
                <a:schemeClr val="lt2"/>
              </a:solidFill>
              <a:latin typeface="Roboto"/>
              <a:ea typeface="Roboto"/>
              <a:cs typeface="Roboto"/>
              <a:sym typeface="Roboto"/>
            </a:endParaRPr>
          </a:p>
        </p:txBody>
      </p:sp>
      <p:pic>
        <p:nvPicPr>
          <p:cNvPr id="249" name="Google Shape;249;p38" title="metrics_bars.png"/>
          <p:cNvPicPr preferRelativeResize="0"/>
          <p:nvPr/>
        </p:nvPicPr>
        <p:blipFill>
          <a:blip r:embed="rId3">
            <a:alphaModFix/>
          </a:blip>
          <a:stretch>
            <a:fillRect/>
          </a:stretch>
        </p:blipFill>
        <p:spPr>
          <a:xfrm>
            <a:off x="5133450" y="713325"/>
            <a:ext cx="3517064" cy="421965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50"/>
              <a:t>Stage 3: Cross Encoder Re-Ranker</a:t>
            </a:r>
            <a:endParaRPr b="1" sz="2150"/>
          </a:p>
        </p:txBody>
      </p:sp>
      <p:sp>
        <p:nvSpPr>
          <p:cNvPr id="255" name="Google Shape;255;p39"/>
          <p:cNvSpPr txBox="1"/>
          <p:nvPr/>
        </p:nvSpPr>
        <p:spPr>
          <a:xfrm>
            <a:off x="192025" y="745250"/>
            <a:ext cx="5047500" cy="439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50"/>
              <a:t>The Problem:</a:t>
            </a:r>
            <a:r>
              <a:rPr lang="en" sz="1350"/>
              <a:t> Dense retrieval introduced "Semantic Drift"—prioritizing broad topics over specific keyword constraints.</a:t>
            </a:r>
            <a:endParaRPr sz="1350"/>
          </a:p>
          <a:p>
            <a:pPr indent="0" lvl="0" marL="0" rtl="0" algn="l">
              <a:spcBef>
                <a:spcPts val="0"/>
              </a:spcBef>
              <a:spcAft>
                <a:spcPts val="0"/>
              </a:spcAft>
              <a:buNone/>
            </a:pPr>
            <a:r>
              <a:t/>
            </a:r>
            <a:endParaRPr sz="1350"/>
          </a:p>
          <a:p>
            <a:pPr indent="0" lvl="0" marL="0" rtl="0" algn="l">
              <a:spcBef>
                <a:spcPts val="0"/>
              </a:spcBef>
              <a:spcAft>
                <a:spcPts val="0"/>
              </a:spcAft>
              <a:buNone/>
            </a:pPr>
            <a:r>
              <a:rPr b="1" lang="en" sz="1350"/>
              <a:t>The Solution:</a:t>
            </a:r>
            <a:r>
              <a:rPr lang="en" sz="1350"/>
              <a:t> Deployed </a:t>
            </a:r>
            <a:r>
              <a:rPr b="1" lang="en" sz="1350"/>
              <a:t>monoT5-large</a:t>
            </a:r>
            <a:r>
              <a:rPr lang="en" sz="1350"/>
              <a:t> as a Cross-Encoder to perform fine-grained relevance assessment (processing query and document simultaneously).</a:t>
            </a:r>
            <a:endParaRPr sz="1350"/>
          </a:p>
          <a:p>
            <a:pPr indent="0" lvl="0" marL="0" rtl="0" algn="l">
              <a:spcBef>
                <a:spcPts val="0"/>
              </a:spcBef>
              <a:spcAft>
                <a:spcPts val="0"/>
              </a:spcAft>
              <a:buNone/>
            </a:pPr>
            <a:r>
              <a:t/>
            </a:r>
            <a:endParaRPr b="1" sz="1350"/>
          </a:p>
          <a:p>
            <a:pPr indent="0" lvl="0" marL="0" rtl="0" algn="l">
              <a:spcBef>
                <a:spcPts val="0"/>
              </a:spcBef>
              <a:spcAft>
                <a:spcPts val="0"/>
              </a:spcAft>
              <a:buNone/>
            </a:pPr>
            <a:r>
              <a:rPr b="1" lang="en" sz="1350"/>
              <a:t>Methodology: Hybrid Input Pooling</a:t>
            </a:r>
            <a:endParaRPr b="1" sz="1350"/>
          </a:p>
          <a:p>
            <a:pPr indent="-314325" lvl="0" marL="457200" rtl="0" algn="l">
              <a:lnSpc>
                <a:spcPct val="115000"/>
              </a:lnSpc>
              <a:spcBef>
                <a:spcPts val="1200"/>
              </a:spcBef>
              <a:spcAft>
                <a:spcPts val="0"/>
              </a:spcAft>
              <a:buSzPts val="1350"/>
              <a:buChar char="●"/>
            </a:pPr>
            <a:r>
              <a:rPr lang="en" sz="1350"/>
              <a:t>To maximize coverage, we didn't just re-rank the Dense output.</a:t>
            </a:r>
            <a:endParaRPr sz="1350"/>
          </a:p>
          <a:p>
            <a:pPr indent="-314325" lvl="0" marL="457200" rtl="0" algn="l">
              <a:lnSpc>
                <a:spcPct val="115000"/>
              </a:lnSpc>
              <a:spcBef>
                <a:spcPts val="0"/>
              </a:spcBef>
              <a:spcAft>
                <a:spcPts val="0"/>
              </a:spcAft>
              <a:buSzPts val="1350"/>
              <a:buChar char="●"/>
            </a:pPr>
            <a:r>
              <a:rPr b="1" lang="en" sz="1350"/>
              <a:t>The Union Pool:</a:t>
            </a:r>
            <a:r>
              <a:rPr lang="en" sz="1350"/>
              <a:t> Constructed a candidate list by merging:</a:t>
            </a:r>
            <a:endParaRPr sz="1350"/>
          </a:p>
          <a:p>
            <a:pPr indent="-314325" lvl="1" marL="914400" rtl="0" algn="l">
              <a:lnSpc>
                <a:spcPct val="115000"/>
              </a:lnSpc>
              <a:spcBef>
                <a:spcPts val="0"/>
              </a:spcBef>
              <a:spcAft>
                <a:spcPts val="0"/>
              </a:spcAft>
              <a:buSzPts val="1350"/>
              <a:buChar char="○"/>
            </a:pPr>
            <a:r>
              <a:rPr b="1" lang="en" sz="1350"/>
              <a:t>Top-100</a:t>
            </a:r>
            <a:r>
              <a:rPr lang="en" sz="1350"/>
              <a:t> from Sparse BM25 (Exact Match Signal)</a:t>
            </a:r>
            <a:endParaRPr sz="1350"/>
          </a:p>
          <a:p>
            <a:pPr indent="-314325" lvl="1" marL="914400" rtl="0" algn="l">
              <a:lnSpc>
                <a:spcPct val="115000"/>
              </a:lnSpc>
              <a:spcBef>
                <a:spcPts val="0"/>
              </a:spcBef>
              <a:spcAft>
                <a:spcPts val="0"/>
              </a:spcAft>
              <a:buSzPts val="1350"/>
              <a:buChar char="○"/>
            </a:pPr>
            <a:r>
              <a:rPr b="1" lang="en" sz="1350"/>
              <a:t>Top-100</a:t>
            </a:r>
            <a:r>
              <a:rPr lang="en" sz="1350"/>
              <a:t> from Dense RRF (Semantic Signal)</a:t>
            </a:r>
            <a:endParaRPr sz="1350"/>
          </a:p>
          <a:p>
            <a:pPr indent="-314325" lvl="0" marL="457200" rtl="0" algn="l">
              <a:lnSpc>
                <a:spcPct val="115000"/>
              </a:lnSpc>
              <a:spcBef>
                <a:spcPts val="0"/>
              </a:spcBef>
              <a:spcAft>
                <a:spcPts val="0"/>
              </a:spcAft>
              <a:buSzPts val="1350"/>
              <a:buChar char="●"/>
            </a:pPr>
            <a:r>
              <a:rPr b="1" i="1" lang="en" sz="1350"/>
              <a:t>Result:</a:t>
            </a:r>
            <a:r>
              <a:rPr lang="en" sz="1350"/>
              <a:t> Ensures the Cross-Encoder has access to both precise keyword matches and broad semantic candidates.</a:t>
            </a:r>
            <a:endParaRPr sz="1350"/>
          </a:p>
          <a:p>
            <a:pPr indent="0" lvl="0" marL="0" rtl="0" algn="l">
              <a:spcBef>
                <a:spcPts val="1200"/>
              </a:spcBef>
              <a:spcAft>
                <a:spcPts val="0"/>
              </a:spcAft>
              <a:buNone/>
            </a:pPr>
            <a:r>
              <a:t/>
            </a:r>
            <a:endParaRPr sz="1350">
              <a:solidFill>
                <a:schemeClr val="lt2"/>
              </a:solidFill>
              <a:latin typeface="Roboto"/>
              <a:ea typeface="Roboto"/>
              <a:cs typeface="Roboto"/>
              <a:sym typeface="Roboto"/>
            </a:endParaRPr>
          </a:p>
        </p:txBody>
      </p:sp>
      <p:pic>
        <p:nvPicPr>
          <p:cNvPr id="256" name="Google Shape;256;p39" title="Mermaid Chart - Create complex, visual diagrams with text.-2025-12-12-000747.png"/>
          <p:cNvPicPr preferRelativeResize="0"/>
          <p:nvPr/>
        </p:nvPicPr>
        <p:blipFill>
          <a:blip r:embed="rId3">
            <a:alphaModFix/>
          </a:blip>
          <a:stretch>
            <a:fillRect/>
          </a:stretch>
        </p:blipFill>
        <p:spPr>
          <a:xfrm>
            <a:off x="5239525" y="1059475"/>
            <a:ext cx="3685325" cy="342259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50"/>
              <a:t>Stage 3: </a:t>
            </a:r>
            <a:r>
              <a:rPr b="1" lang="en" sz="2150"/>
              <a:t>Performance Analysis of the </a:t>
            </a:r>
            <a:r>
              <a:rPr b="1" lang="en" sz="2150"/>
              <a:t>Cross Encoder Re-Ranker</a:t>
            </a:r>
            <a:endParaRPr b="1" sz="2150"/>
          </a:p>
        </p:txBody>
      </p:sp>
      <p:sp>
        <p:nvSpPr>
          <p:cNvPr id="262" name="Google Shape;262;p40"/>
          <p:cNvSpPr txBox="1"/>
          <p:nvPr/>
        </p:nvSpPr>
        <p:spPr>
          <a:xfrm>
            <a:off x="205750" y="841250"/>
            <a:ext cx="40050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t>"Phoenix-like" Recovery:</a:t>
            </a:r>
            <a:endParaRPr b="1" sz="1300"/>
          </a:p>
          <a:p>
            <a:pPr indent="-311150" lvl="0" marL="457200" rtl="0" algn="l">
              <a:lnSpc>
                <a:spcPct val="115000"/>
              </a:lnSpc>
              <a:spcBef>
                <a:spcPts val="0"/>
              </a:spcBef>
              <a:spcAft>
                <a:spcPts val="0"/>
              </a:spcAft>
              <a:buSzPts val="1300"/>
              <a:buChar char="●"/>
            </a:pPr>
            <a:r>
              <a:rPr lang="en" sz="1300"/>
              <a:t>The Cross-Encoder repaired the 18% performance drop incurred during the Dense stage and significantly outperformed the initial Sparse baseline.</a:t>
            </a:r>
            <a:endParaRPr sz="1300"/>
          </a:p>
          <a:p>
            <a:pPr indent="0" lvl="0" marL="0" rtl="0" algn="l">
              <a:lnSpc>
                <a:spcPct val="115000"/>
              </a:lnSpc>
              <a:spcBef>
                <a:spcPts val="1200"/>
              </a:spcBef>
              <a:spcAft>
                <a:spcPts val="0"/>
              </a:spcAft>
              <a:buNone/>
            </a:pPr>
            <a:r>
              <a:rPr b="1" lang="en" sz="1300"/>
              <a:t>Key Metrics:</a:t>
            </a:r>
            <a:endParaRPr b="1" sz="1300"/>
          </a:p>
          <a:p>
            <a:pPr indent="-311150" lvl="0" marL="457200" rtl="0" algn="l">
              <a:lnSpc>
                <a:spcPct val="115000"/>
              </a:lnSpc>
              <a:spcBef>
                <a:spcPts val="0"/>
              </a:spcBef>
              <a:spcAft>
                <a:spcPts val="0"/>
              </a:spcAft>
              <a:buSzPts val="1300"/>
              <a:buChar char="●"/>
            </a:pPr>
            <a:r>
              <a:rPr b="1" lang="en" sz="1300"/>
              <a:t>Success@10:</a:t>
            </a:r>
            <a:r>
              <a:rPr lang="en" sz="1300"/>
              <a:t> Boosted from </a:t>
            </a:r>
            <a:r>
              <a:rPr b="1" lang="en" sz="1300"/>
              <a:t>0.54 → 0.65</a:t>
            </a:r>
            <a:r>
              <a:rPr lang="en" sz="1300"/>
              <a:t>.</a:t>
            </a:r>
            <a:endParaRPr sz="1300"/>
          </a:p>
          <a:p>
            <a:pPr indent="-311150" lvl="0" marL="457200" rtl="0" algn="l">
              <a:lnSpc>
                <a:spcPct val="115000"/>
              </a:lnSpc>
              <a:spcBef>
                <a:spcPts val="0"/>
              </a:spcBef>
              <a:spcAft>
                <a:spcPts val="0"/>
              </a:spcAft>
              <a:buSzPts val="1300"/>
              <a:buChar char="●"/>
            </a:pPr>
            <a:r>
              <a:rPr b="1" lang="en" sz="1300"/>
              <a:t>Mechanism:</a:t>
            </a:r>
            <a:r>
              <a:rPr lang="en" sz="1300"/>
              <a:t> Successfully identified relevant documents buried deep in the list (ranks 11+) and elevated them to the top.</a:t>
            </a:r>
            <a:endParaRPr sz="1300"/>
          </a:p>
          <a:p>
            <a:pPr indent="0" lvl="0" marL="0" rtl="0" algn="l">
              <a:lnSpc>
                <a:spcPct val="115000"/>
              </a:lnSpc>
              <a:spcBef>
                <a:spcPts val="1200"/>
              </a:spcBef>
              <a:spcAft>
                <a:spcPts val="0"/>
              </a:spcAft>
              <a:buNone/>
            </a:pPr>
            <a:r>
              <a:rPr b="1" lang="en" sz="1300"/>
              <a:t>The Trade-off:</a:t>
            </a:r>
            <a:endParaRPr b="1" sz="1300"/>
          </a:p>
          <a:p>
            <a:pPr indent="-311150" lvl="0" marL="457200" rtl="0" algn="l">
              <a:lnSpc>
                <a:spcPct val="115000"/>
              </a:lnSpc>
              <a:spcBef>
                <a:spcPts val="0"/>
              </a:spcBef>
              <a:spcAft>
                <a:spcPts val="0"/>
              </a:spcAft>
              <a:buSzPts val="1300"/>
              <a:buChar char="●"/>
            </a:pPr>
            <a:r>
              <a:rPr lang="en" sz="1300"/>
              <a:t>Total Recall dropped from </a:t>
            </a:r>
            <a:r>
              <a:rPr b="1" lang="en" sz="1300"/>
              <a:t>0.828 → 0.733</a:t>
            </a:r>
            <a:r>
              <a:rPr lang="en" sz="1300"/>
              <a:t>.</a:t>
            </a:r>
            <a:endParaRPr sz="1300"/>
          </a:p>
          <a:p>
            <a:pPr indent="-311150" lvl="0" marL="457200" rtl="0" algn="l">
              <a:lnSpc>
                <a:spcPct val="115000"/>
              </a:lnSpc>
              <a:spcBef>
                <a:spcPts val="0"/>
              </a:spcBef>
              <a:spcAft>
                <a:spcPts val="0"/>
              </a:spcAft>
              <a:buSzPts val="1300"/>
              <a:buChar char="●"/>
            </a:pPr>
            <a:r>
              <a:rPr i="1" lang="en" sz="1300"/>
              <a:t>Analysis:</a:t>
            </a:r>
            <a:r>
              <a:rPr lang="en" sz="1300"/>
              <a:t> We sacrificed "long-tail recall" (documents ranked &gt;300) to secure massive improvements in top-tier precision.</a:t>
            </a:r>
            <a:endParaRPr sz="2000">
              <a:solidFill>
                <a:schemeClr val="lt2"/>
              </a:solidFill>
              <a:latin typeface="Roboto"/>
              <a:ea typeface="Roboto"/>
              <a:cs typeface="Roboto"/>
              <a:sym typeface="Roboto"/>
            </a:endParaRPr>
          </a:p>
        </p:txBody>
      </p:sp>
      <p:pic>
        <p:nvPicPr>
          <p:cNvPr id="263" name="Google Shape;263;p40" title="nDCG_comparison.png"/>
          <p:cNvPicPr preferRelativeResize="0"/>
          <p:nvPr/>
        </p:nvPicPr>
        <p:blipFill>
          <a:blip r:embed="rId3">
            <a:alphaModFix/>
          </a:blip>
          <a:stretch>
            <a:fillRect/>
          </a:stretch>
        </p:blipFill>
        <p:spPr>
          <a:xfrm>
            <a:off x="4285025" y="1321300"/>
            <a:ext cx="4639826" cy="278434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50"/>
              <a:t>Stage 3: </a:t>
            </a:r>
            <a:r>
              <a:rPr b="1" lang="en" sz="2150"/>
              <a:t>Optimizing Re-ranking Depth for Latency</a:t>
            </a:r>
            <a:endParaRPr b="1" sz="2150"/>
          </a:p>
        </p:txBody>
      </p:sp>
      <p:sp>
        <p:nvSpPr>
          <p:cNvPr id="269" name="Google Shape;269;p41"/>
          <p:cNvSpPr txBox="1"/>
          <p:nvPr/>
        </p:nvSpPr>
        <p:spPr>
          <a:xfrm>
            <a:off x="219450" y="772675"/>
            <a:ext cx="3840600" cy="384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t>Constraint:</a:t>
            </a:r>
            <a:r>
              <a:rPr lang="en" sz="1300"/>
              <a:t> Cross-Encoders are computationally expensive; minimizing the candidate depth (K) is crucial for latency.</a:t>
            </a:r>
            <a:endParaRPr sz="1300"/>
          </a:p>
          <a:p>
            <a:pPr indent="0" lvl="0" marL="0" rtl="0" algn="l">
              <a:lnSpc>
                <a:spcPct val="115000"/>
              </a:lnSpc>
              <a:spcBef>
                <a:spcPts val="0"/>
              </a:spcBef>
              <a:spcAft>
                <a:spcPts val="0"/>
              </a:spcAft>
              <a:buNone/>
            </a:pPr>
            <a:r>
              <a:rPr b="1" lang="en" sz="1300"/>
              <a:t>Tuning Observation:</a:t>
            </a:r>
            <a:endParaRPr b="1" sz="1300"/>
          </a:p>
          <a:p>
            <a:pPr indent="-311150" lvl="0" marL="457200" rtl="0" algn="l">
              <a:lnSpc>
                <a:spcPct val="115000"/>
              </a:lnSpc>
              <a:spcBef>
                <a:spcPts val="0"/>
              </a:spcBef>
              <a:spcAft>
                <a:spcPts val="0"/>
              </a:spcAft>
              <a:buSzPts val="1300"/>
              <a:buChar char="●"/>
            </a:pPr>
            <a:r>
              <a:rPr lang="en" sz="1300"/>
              <a:t>Robust tuning sweeps revealed that the "relevance signal" is concentrated in the very top portion of the input list.</a:t>
            </a:r>
            <a:endParaRPr sz="1300"/>
          </a:p>
          <a:p>
            <a:pPr indent="-311150" lvl="0" marL="457200" rtl="0" algn="l">
              <a:lnSpc>
                <a:spcPct val="115000"/>
              </a:lnSpc>
              <a:spcBef>
                <a:spcPts val="0"/>
              </a:spcBef>
              <a:spcAft>
                <a:spcPts val="0"/>
              </a:spcAft>
              <a:buSzPts val="1300"/>
              <a:buChar char="●"/>
            </a:pPr>
            <a:r>
              <a:rPr lang="en" sz="1300"/>
              <a:t>Re-ranking deeper candidates (Depth 100–300) introduced more </a:t>
            </a:r>
            <a:r>
              <a:rPr b="1" lang="en" sz="1300"/>
              <a:t>noise</a:t>
            </a:r>
            <a:r>
              <a:rPr lang="en" sz="1300"/>
              <a:t> than relevance, actually diluting the robust score.</a:t>
            </a:r>
            <a:endParaRPr sz="1300"/>
          </a:p>
          <a:p>
            <a:pPr indent="0" lvl="0" marL="0" rtl="0" algn="l">
              <a:lnSpc>
                <a:spcPct val="115000"/>
              </a:lnSpc>
              <a:spcBef>
                <a:spcPts val="1200"/>
              </a:spcBef>
              <a:spcAft>
                <a:spcPts val="0"/>
              </a:spcAft>
              <a:buNone/>
            </a:pPr>
            <a:r>
              <a:rPr b="1" lang="en" sz="1300"/>
              <a:t>Final Configuration:</a:t>
            </a:r>
            <a:endParaRPr b="1" sz="1300"/>
          </a:p>
          <a:p>
            <a:pPr indent="-311150" lvl="0" marL="457200" rtl="0" algn="l">
              <a:lnSpc>
                <a:spcPct val="115000"/>
              </a:lnSpc>
              <a:spcBef>
                <a:spcPts val="0"/>
              </a:spcBef>
              <a:spcAft>
                <a:spcPts val="0"/>
              </a:spcAft>
              <a:buSzPts val="1300"/>
              <a:buChar char="●"/>
            </a:pPr>
            <a:r>
              <a:rPr b="1" lang="en" sz="1300"/>
              <a:t>Set K = 50</a:t>
            </a:r>
            <a:endParaRPr b="1" sz="1300"/>
          </a:p>
          <a:p>
            <a:pPr indent="-311150" lvl="0" marL="457200" rtl="0" algn="l">
              <a:lnSpc>
                <a:spcPct val="115000"/>
              </a:lnSpc>
              <a:spcBef>
                <a:spcPts val="0"/>
              </a:spcBef>
              <a:spcAft>
                <a:spcPts val="0"/>
              </a:spcAft>
              <a:buSzPts val="1300"/>
              <a:buChar char="●"/>
            </a:pPr>
            <a:r>
              <a:rPr i="1" lang="en" sz="1300"/>
              <a:t>Impact:</a:t>
            </a:r>
            <a:r>
              <a:rPr lang="en" sz="1300"/>
              <a:t> Maximizes ranking quality while ensuring maximum efficiency for the final LLM stage.</a:t>
            </a:r>
            <a:endParaRPr sz="2000">
              <a:solidFill>
                <a:schemeClr val="lt2"/>
              </a:solidFill>
              <a:latin typeface="Roboto"/>
              <a:ea typeface="Roboto"/>
              <a:cs typeface="Roboto"/>
              <a:sym typeface="Roboto"/>
            </a:endParaRPr>
          </a:p>
        </p:txBody>
      </p:sp>
      <p:pic>
        <p:nvPicPr>
          <p:cNvPr id="270" name="Google Shape;270;p41" title="ce_k_tuning_curve.png"/>
          <p:cNvPicPr preferRelativeResize="0"/>
          <p:nvPr/>
        </p:nvPicPr>
        <p:blipFill>
          <a:blip r:embed="rId3">
            <a:alphaModFix/>
          </a:blip>
          <a:stretch>
            <a:fillRect/>
          </a:stretch>
        </p:blipFill>
        <p:spPr>
          <a:xfrm>
            <a:off x="4145700" y="1259225"/>
            <a:ext cx="4779150" cy="286749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50"/>
              <a:t>Stage 4: List-wise LLM Re-Ranker</a:t>
            </a:r>
            <a:endParaRPr b="1" sz="2150"/>
          </a:p>
        </p:txBody>
      </p:sp>
      <p:sp>
        <p:nvSpPr>
          <p:cNvPr id="276" name="Google Shape;276;p42"/>
          <p:cNvSpPr txBox="1"/>
          <p:nvPr/>
        </p:nvSpPr>
        <p:spPr>
          <a:xfrm>
            <a:off x="548650" y="1005850"/>
            <a:ext cx="7653600" cy="35112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SzPts val="1400"/>
              <a:buChar char="●"/>
            </a:pPr>
            <a:r>
              <a:rPr b="1" lang="en">
                <a:latin typeface="Roboto"/>
                <a:ea typeface="Roboto"/>
                <a:cs typeface="Roboto"/>
                <a:sym typeface="Roboto"/>
              </a:rPr>
              <a:t>Model:</a:t>
            </a:r>
            <a:r>
              <a:rPr lang="en">
                <a:latin typeface="Roboto"/>
                <a:ea typeface="Roboto"/>
                <a:cs typeface="Roboto"/>
                <a:sym typeface="Roboto"/>
              </a:rPr>
              <a:t> </a:t>
            </a:r>
            <a:r>
              <a:rPr b="1" lang="en">
                <a:latin typeface="Roboto"/>
                <a:ea typeface="Roboto"/>
                <a:cs typeface="Roboto"/>
                <a:sym typeface="Roboto"/>
              </a:rPr>
              <a:t>Qwen2.5-72B-Instruct</a:t>
            </a:r>
            <a:r>
              <a:rPr lang="en">
                <a:latin typeface="Roboto"/>
                <a:ea typeface="Roboto"/>
                <a:cs typeface="Roboto"/>
                <a:sym typeface="Roboto"/>
              </a:rPr>
              <a:t> (4-bit quantized).</a:t>
            </a:r>
            <a:endParaRPr>
              <a:latin typeface="Roboto"/>
              <a:ea typeface="Roboto"/>
              <a:cs typeface="Roboto"/>
              <a:sym typeface="Roboto"/>
            </a:endParaRPr>
          </a:p>
          <a:p>
            <a:pPr indent="-317500" lvl="0" marL="457200" rtl="0" algn="l">
              <a:lnSpc>
                <a:spcPct val="115000"/>
              </a:lnSpc>
              <a:spcBef>
                <a:spcPts val="0"/>
              </a:spcBef>
              <a:spcAft>
                <a:spcPts val="0"/>
              </a:spcAft>
              <a:buSzPts val="1400"/>
              <a:buChar char="●"/>
            </a:pPr>
            <a:r>
              <a:rPr b="1" lang="en">
                <a:latin typeface="Roboto"/>
                <a:ea typeface="Roboto"/>
                <a:cs typeface="Roboto"/>
                <a:sym typeface="Roboto"/>
              </a:rPr>
              <a:t>Strategy:</a:t>
            </a:r>
            <a:r>
              <a:rPr lang="en">
                <a:latin typeface="Roboto"/>
                <a:ea typeface="Roboto"/>
                <a:cs typeface="Roboto"/>
                <a:sym typeface="Roboto"/>
              </a:rPr>
              <a:t> </a:t>
            </a:r>
            <a:r>
              <a:rPr b="1" lang="en">
                <a:latin typeface="Roboto"/>
                <a:ea typeface="Roboto"/>
                <a:cs typeface="Roboto"/>
                <a:sym typeface="Roboto"/>
              </a:rPr>
              <a:t>Listwise Re-ranking</a:t>
            </a:r>
            <a:r>
              <a:rPr lang="en">
                <a:latin typeface="Roboto"/>
                <a:ea typeface="Roboto"/>
                <a:cs typeface="Roboto"/>
                <a:sym typeface="Roboto"/>
              </a:rPr>
              <a:t>.</a:t>
            </a:r>
            <a:endParaRPr>
              <a:latin typeface="Roboto"/>
              <a:ea typeface="Roboto"/>
              <a:cs typeface="Roboto"/>
              <a:sym typeface="Roboto"/>
            </a:endParaRPr>
          </a:p>
          <a:p>
            <a:pPr indent="-317500" lvl="1" marL="914400" rtl="0" algn="l">
              <a:lnSpc>
                <a:spcPct val="115000"/>
              </a:lnSpc>
              <a:spcBef>
                <a:spcPts val="0"/>
              </a:spcBef>
              <a:spcAft>
                <a:spcPts val="0"/>
              </a:spcAft>
              <a:buSzPts val="1400"/>
              <a:buFont typeface="Roboto"/>
              <a:buChar char="○"/>
            </a:pPr>
            <a:r>
              <a:rPr lang="en">
                <a:latin typeface="Roboto"/>
                <a:ea typeface="Roboto"/>
                <a:cs typeface="Roboto"/>
                <a:sym typeface="Roboto"/>
              </a:rPr>
              <a:t>Unlike point-wise scoring, the LLM evaluates a batch of candidates </a:t>
            </a:r>
            <a:r>
              <a:rPr i="1" lang="en">
                <a:latin typeface="Roboto"/>
                <a:ea typeface="Roboto"/>
                <a:cs typeface="Roboto"/>
                <a:sym typeface="Roboto"/>
              </a:rPr>
              <a:t>simultaneously</a:t>
            </a:r>
            <a:r>
              <a:rPr lang="en">
                <a:latin typeface="Roboto"/>
                <a:ea typeface="Roboto"/>
                <a:cs typeface="Roboto"/>
                <a:sym typeface="Roboto"/>
              </a:rPr>
              <a:t>.</a:t>
            </a:r>
            <a:endParaRPr>
              <a:latin typeface="Roboto"/>
              <a:ea typeface="Roboto"/>
              <a:cs typeface="Roboto"/>
              <a:sym typeface="Roboto"/>
            </a:endParaRPr>
          </a:p>
          <a:p>
            <a:pPr indent="-317500" lvl="1" marL="914400" rtl="0" algn="l">
              <a:lnSpc>
                <a:spcPct val="115000"/>
              </a:lnSpc>
              <a:spcBef>
                <a:spcPts val="0"/>
              </a:spcBef>
              <a:spcAft>
                <a:spcPts val="0"/>
              </a:spcAft>
              <a:buSzPts val="1400"/>
              <a:buFont typeface="Roboto"/>
              <a:buChar char="○"/>
            </a:pPr>
            <a:r>
              <a:rPr lang="en">
                <a:latin typeface="Roboto"/>
                <a:ea typeface="Roboto"/>
                <a:cs typeface="Roboto"/>
                <a:sym typeface="Roboto"/>
              </a:rPr>
              <a:t>Allows the model to compare candidates directly against each other to resolve subtle ambiguities.</a:t>
            </a:r>
            <a:endParaRPr>
              <a:latin typeface="Roboto"/>
              <a:ea typeface="Roboto"/>
              <a:cs typeface="Roboto"/>
              <a:sym typeface="Roboto"/>
            </a:endParaRPr>
          </a:p>
          <a:p>
            <a:pPr indent="-317500" lvl="0" marL="457200" rtl="0" algn="l">
              <a:lnSpc>
                <a:spcPct val="115000"/>
              </a:lnSpc>
              <a:spcBef>
                <a:spcPts val="0"/>
              </a:spcBef>
              <a:spcAft>
                <a:spcPts val="0"/>
              </a:spcAft>
              <a:buSzPts val="1400"/>
              <a:buFont typeface="Roboto"/>
              <a:buChar char="●"/>
            </a:pPr>
            <a:r>
              <a:rPr b="1" lang="en">
                <a:latin typeface="Roboto"/>
                <a:ea typeface="Roboto"/>
                <a:cs typeface="Roboto"/>
                <a:sym typeface="Roboto"/>
              </a:rPr>
              <a:t>Context Management:</a:t>
            </a:r>
            <a:endParaRPr b="1">
              <a:latin typeface="Roboto"/>
              <a:ea typeface="Roboto"/>
              <a:cs typeface="Roboto"/>
              <a:sym typeface="Roboto"/>
            </a:endParaRPr>
          </a:p>
          <a:p>
            <a:pPr indent="-317500" lvl="1" marL="914400" rtl="0" algn="l">
              <a:lnSpc>
                <a:spcPct val="115000"/>
              </a:lnSpc>
              <a:spcBef>
                <a:spcPts val="0"/>
              </a:spcBef>
              <a:spcAft>
                <a:spcPts val="0"/>
              </a:spcAft>
              <a:buSzPts val="1400"/>
              <a:buChar char="○"/>
            </a:pPr>
            <a:r>
              <a:rPr b="1" lang="en">
                <a:latin typeface="Roboto"/>
                <a:ea typeface="Roboto"/>
                <a:cs typeface="Roboto"/>
                <a:sym typeface="Roboto"/>
              </a:rPr>
              <a:t>Truncation:</a:t>
            </a:r>
            <a:r>
              <a:rPr lang="en">
                <a:latin typeface="Roboto"/>
                <a:ea typeface="Roboto"/>
                <a:cs typeface="Roboto"/>
                <a:sym typeface="Roboto"/>
              </a:rPr>
              <a:t> Documents truncated to the first </a:t>
            </a:r>
            <a:r>
              <a:rPr b="1" lang="en">
                <a:latin typeface="Roboto"/>
                <a:ea typeface="Roboto"/>
                <a:cs typeface="Roboto"/>
                <a:sym typeface="Roboto"/>
              </a:rPr>
              <a:t>500 characters</a:t>
            </a:r>
            <a:r>
              <a:rPr lang="en">
                <a:latin typeface="Roboto"/>
                <a:ea typeface="Roboto"/>
                <a:cs typeface="Roboto"/>
                <a:sym typeface="Roboto"/>
              </a:rPr>
              <a:t> (approx. Wikipedia Introduction length).</a:t>
            </a:r>
            <a:endParaRPr>
              <a:latin typeface="Roboto"/>
              <a:ea typeface="Roboto"/>
              <a:cs typeface="Roboto"/>
              <a:sym typeface="Roboto"/>
            </a:endParaRPr>
          </a:p>
          <a:p>
            <a:pPr indent="-317500" lvl="0" marL="457200" rtl="0" algn="l">
              <a:lnSpc>
                <a:spcPct val="115000"/>
              </a:lnSpc>
              <a:spcBef>
                <a:spcPts val="0"/>
              </a:spcBef>
              <a:spcAft>
                <a:spcPts val="0"/>
              </a:spcAft>
              <a:buSzPts val="1400"/>
              <a:buFont typeface="Roboto"/>
              <a:buChar char="●"/>
            </a:pPr>
            <a:r>
              <a:rPr b="1" lang="en">
                <a:latin typeface="Roboto"/>
                <a:ea typeface="Roboto"/>
                <a:cs typeface="Roboto"/>
                <a:sym typeface="Roboto"/>
              </a:rPr>
              <a:t>Why Truncate?</a:t>
            </a:r>
            <a:endParaRPr b="1">
              <a:latin typeface="Roboto"/>
              <a:ea typeface="Roboto"/>
              <a:cs typeface="Roboto"/>
              <a:sym typeface="Roboto"/>
            </a:endParaRPr>
          </a:p>
          <a:p>
            <a:pPr indent="-317500" lvl="1" marL="914400" rtl="0" algn="l">
              <a:lnSpc>
                <a:spcPct val="115000"/>
              </a:lnSpc>
              <a:spcBef>
                <a:spcPts val="0"/>
              </a:spcBef>
              <a:spcAft>
                <a:spcPts val="0"/>
              </a:spcAft>
              <a:buSzPts val="1400"/>
              <a:buChar char="○"/>
            </a:pPr>
            <a:r>
              <a:rPr b="1" lang="en">
                <a:latin typeface="Roboto"/>
                <a:ea typeface="Roboto"/>
                <a:cs typeface="Roboto"/>
                <a:sym typeface="Roboto"/>
              </a:rPr>
              <a:t>"Lost in the Middle" Phenomenon:</a:t>
            </a:r>
            <a:r>
              <a:rPr lang="en">
                <a:latin typeface="Roboto"/>
                <a:ea typeface="Roboto"/>
                <a:cs typeface="Roboto"/>
                <a:sym typeface="Roboto"/>
              </a:rPr>
              <a:t> LLMs focus best on the start/end. Relevant ToT signals (plot summaries) are usually in the intro.</a:t>
            </a:r>
            <a:endParaRPr>
              <a:latin typeface="Roboto"/>
              <a:ea typeface="Roboto"/>
              <a:cs typeface="Roboto"/>
              <a:sym typeface="Roboto"/>
            </a:endParaRPr>
          </a:p>
          <a:p>
            <a:pPr indent="-317500" lvl="1" marL="914400" rtl="0" algn="l">
              <a:lnSpc>
                <a:spcPct val="115000"/>
              </a:lnSpc>
              <a:spcBef>
                <a:spcPts val="0"/>
              </a:spcBef>
              <a:spcAft>
                <a:spcPts val="0"/>
              </a:spcAft>
              <a:buSzPts val="1400"/>
              <a:buChar char="○"/>
            </a:pPr>
            <a:r>
              <a:rPr b="1" lang="en">
                <a:latin typeface="Roboto"/>
                <a:ea typeface="Roboto"/>
                <a:cs typeface="Roboto"/>
                <a:sym typeface="Roboto"/>
              </a:rPr>
              <a:t>Cost/Latency:</a:t>
            </a:r>
            <a:r>
              <a:rPr lang="en">
                <a:latin typeface="Roboto"/>
                <a:ea typeface="Roboto"/>
                <a:cs typeface="Roboto"/>
                <a:sym typeface="Roboto"/>
              </a:rPr>
              <a:t> Full text (2k tokens) for 50 candidates would create 100k+ token inputs, exploding latency from seconds to minutes.</a:t>
            </a:r>
            <a:endParaRPr>
              <a:solidFill>
                <a:schemeClr val="lt2"/>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50"/>
              <a:t>Stage 4: </a:t>
            </a:r>
            <a:r>
              <a:rPr b="1" lang="en" sz="2150"/>
              <a:t>Optimizing Efficiency: Joint Parameter Tuning</a:t>
            </a:r>
            <a:endParaRPr b="1" sz="2150"/>
          </a:p>
        </p:txBody>
      </p:sp>
      <p:sp>
        <p:nvSpPr>
          <p:cNvPr id="282" name="Google Shape;282;p43"/>
          <p:cNvSpPr txBox="1"/>
          <p:nvPr/>
        </p:nvSpPr>
        <p:spPr>
          <a:xfrm>
            <a:off x="301800" y="827525"/>
            <a:ext cx="4270200" cy="363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t>Objective:</a:t>
            </a:r>
            <a:r>
              <a:rPr lang="en" sz="1300"/>
              <a:t> Balance maximum precision with computational cost.</a:t>
            </a:r>
            <a:endParaRPr sz="1300"/>
          </a:p>
          <a:p>
            <a:pPr indent="0" lvl="0" marL="0" rtl="0" algn="l">
              <a:lnSpc>
                <a:spcPct val="115000"/>
              </a:lnSpc>
              <a:spcBef>
                <a:spcPts val="0"/>
              </a:spcBef>
              <a:spcAft>
                <a:spcPts val="0"/>
              </a:spcAft>
              <a:buNone/>
            </a:pPr>
            <a:r>
              <a:rPr b="1" lang="en" sz="1300"/>
              <a:t>Method:</a:t>
            </a:r>
            <a:r>
              <a:rPr lang="en" sz="1300"/>
              <a:t> </a:t>
            </a:r>
            <a:r>
              <a:rPr b="1" lang="en" sz="1300"/>
              <a:t>Joint Grid Search</a:t>
            </a:r>
            <a:r>
              <a:rPr lang="en" sz="1300"/>
              <a:t> </a:t>
            </a:r>
            <a:r>
              <a:rPr lang="en" sz="1300"/>
              <a:t>optimizing</a:t>
            </a:r>
            <a:r>
              <a:rPr lang="en" sz="1300"/>
              <a:t> two variables:</a:t>
            </a:r>
            <a:endParaRPr sz="1300"/>
          </a:p>
          <a:p>
            <a:pPr indent="-311150" lvl="0" marL="457200" rtl="0" algn="l">
              <a:lnSpc>
                <a:spcPct val="115000"/>
              </a:lnSpc>
              <a:spcBef>
                <a:spcPts val="0"/>
              </a:spcBef>
              <a:spcAft>
                <a:spcPts val="0"/>
              </a:spcAft>
              <a:buSzPts val="1300"/>
              <a:buChar char="●"/>
            </a:pPr>
            <a:r>
              <a:rPr lang="en" sz="1300"/>
              <a:t>K_cross: Input window size passed from Cross-Encoder.</a:t>
            </a:r>
            <a:endParaRPr sz="1300"/>
          </a:p>
          <a:p>
            <a:pPr indent="-311150" lvl="0" marL="457200" rtl="0" algn="l">
              <a:lnSpc>
                <a:spcPct val="115000"/>
              </a:lnSpc>
              <a:spcBef>
                <a:spcPts val="0"/>
              </a:spcBef>
              <a:spcAft>
                <a:spcPts val="0"/>
              </a:spcAft>
              <a:buSzPts val="1300"/>
              <a:buChar char="●"/>
            </a:pPr>
            <a:r>
              <a:rPr lang="en" sz="1300"/>
              <a:t>K_llm: Output depth of the re-ranked list.</a:t>
            </a:r>
            <a:endParaRPr sz="1300"/>
          </a:p>
          <a:p>
            <a:pPr indent="0" lvl="0" marL="0" rtl="0" algn="l">
              <a:lnSpc>
                <a:spcPct val="115000"/>
              </a:lnSpc>
              <a:spcBef>
                <a:spcPts val="1200"/>
              </a:spcBef>
              <a:spcAft>
                <a:spcPts val="0"/>
              </a:spcAft>
              <a:buNone/>
            </a:pPr>
            <a:r>
              <a:rPr b="1" lang="en" sz="1300"/>
              <a:t>Key Finding:</a:t>
            </a:r>
            <a:endParaRPr b="1" sz="1300"/>
          </a:p>
          <a:p>
            <a:pPr indent="-311150" lvl="0" marL="457200" rtl="0" algn="l">
              <a:lnSpc>
                <a:spcPct val="115000"/>
              </a:lnSpc>
              <a:spcBef>
                <a:spcPts val="0"/>
              </a:spcBef>
              <a:spcAft>
                <a:spcPts val="0"/>
              </a:spcAft>
              <a:buSzPts val="1300"/>
              <a:buChar char="●"/>
            </a:pPr>
            <a:r>
              <a:rPr lang="en" sz="1300"/>
              <a:t>Performance saturates quickly. Smaller windows (K_cross=30) matched or outperformed larger ones (K_cross=50+).</a:t>
            </a:r>
            <a:endParaRPr sz="1300"/>
          </a:p>
          <a:p>
            <a:pPr indent="-311150" lvl="0" marL="457200" rtl="0" algn="l">
              <a:lnSpc>
                <a:spcPct val="115000"/>
              </a:lnSpc>
              <a:spcBef>
                <a:spcPts val="0"/>
              </a:spcBef>
              <a:spcAft>
                <a:spcPts val="0"/>
              </a:spcAft>
              <a:buSzPts val="1300"/>
              <a:buChar char="●"/>
            </a:pPr>
            <a:r>
              <a:rPr b="1" lang="en" sz="1300"/>
              <a:t>Conclusion:</a:t>
            </a:r>
            <a:r>
              <a:rPr lang="en" sz="1300"/>
              <a:t> Relevant signals are concentrated at the very top. Processing ranks 31–100 introduces </a:t>
            </a:r>
            <a:r>
              <a:rPr b="1" lang="en" sz="1300"/>
              <a:t>noise</a:t>
            </a:r>
            <a:r>
              <a:rPr lang="en" sz="1300"/>
              <a:t>, not signal.</a:t>
            </a:r>
            <a:endParaRPr sz="1300"/>
          </a:p>
          <a:p>
            <a:pPr indent="0" lvl="0" marL="0" rtl="0" algn="l">
              <a:lnSpc>
                <a:spcPct val="115000"/>
              </a:lnSpc>
              <a:spcBef>
                <a:spcPts val="1200"/>
              </a:spcBef>
              <a:spcAft>
                <a:spcPts val="0"/>
              </a:spcAft>
              <a:buNone/>
            </a:pPr>
            <a:r>
              <a:rPr b="1" lang="en" sz="1300"/>
              <a:t>Final Configuration:</a:t>
            </a:r>
            <a:endParaRPr b="1" sz="1300"/>
          </a:p>
          <a:p>
            <a:pPr indent="-311150" lvl="0" marL="457200" rtl="0" algn="l">
              <a:lnSpc>
                <a:spcPct val="115000"/>
              </a:lnSpc>
              <a:spcBef>
                <a:spcPts val="0"/>
              </a:spcBef>
              <a:spcAft>
                <a:spcPts val="0"/>
              </a:spcAft>
              <a:buSzPts val="1300"/>
              <a:buChar char="●"/>
            </a:pPr>
            <a:r>
              <a:rPr b="1" lang="en" sz="1300"/>
              <a:t>K_cross = 30</a:t>
            </a:r>
            <a:r>
              <a:rPr lang="en" sz="1300"/>
              <a:t> (Input)</a:t>
            </a:r>
            <a:endParaRPr sz="1300"/>
          </a:p>
          <a:p>
            <a:pPr indent="-311150" lvl="0" marL="457200" rtl="0" algn="l">
              <a:lnSpc>
                <a:spcPct val="115000"/>
              </a:lnSpc>
              <a:spcBef>
                <a:spcPts val="0"/>
              </a:spcBef>
              <a:spcAft>
                <a:spcPts val="0"/>
              </a:spcAft>
              <a:buSzPts val="1300"/>
              <a:buChar char="●"/>
            </a:pPr>
            <a:r>
              <a:rPr b="1" lang="en" sz="1300"/>
              <a:t>K_llm = 10</a:t>
            </a:r>
            <a:r>
              <a:rPr lang="en" sz="1300"/>
              <a:t> (Output)</a:t>
            </a:r>
            <a:endParaRPr sz="1300"/>
          </a:p>
          <a:p>
            <a:pPr indent="0" lvl="0" marL="0" rtl="0" algn="l">
              <a:spcBef>
                <a:spcPts val="1200"/>
              </a:spcBef>
              <a:spcAft>
                <a:spcPts val="0"/>
              </a:spcAft>
              <a:buNone/>
            </a:pPr>
            <a:r>
              <a:t/>
            </a:r>
            <a:endParaRPr sz="1300">
              <a:solidFill>
                <a:schemeClr val="lt2"/>
              </a:solidFill>
              <a:latin typeface="Roboto"/>
              <a:ea typeface="Roboto"/>
              <a:cs typeface="Roboto"/>
              <a:sym typeface="Roboto"/>
            </a:endParaRPr>
          </a:p>
        </p:txBody>
      </p:sp>
      <p:pic>
        <p:nvPicPr>
          <p:cNvPr id="283" name="Google Shape;283;p43" title="joint_tuning_heatmap.png"/>
          <p:cNvPicPr preferRelativeResize="0"/>
          <p:nvPr/>
        </p:nvPicPr>
        <p:blipFill>
          <a:blip r:embed="rId3">
            <a:alphaModFix/>
          </a:blip>
          <a:stretch>
            <a:fillRect/>
          </a:stretch>
        </p:blipFill>
        <p:spPr>
          <a:xfrm>
            <a:off x="4572000" y="1261925"/>
            <a:ext cx="4267200" cy="3200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50"/>
              <a:t>Stage 4: </a:t>
            </a:r>
            <a:r>
              <a:rPr b="1" lang="en" sz="2150"/>
              <a:t>Final Results: Generalization vs. Overfitting</a:t>
            </a:r>
            <a:endParaRPr b="1" sz="2150"/>
          </a:p>
        </p:txBody>
      </p:sp>
      <p:sp>
        <p:nvSpPr>
          <p:cNvPr id="289" name="Google Shape;289;p44"/>
          <p:cNvSpPr txBox="1"/>
          <p:nvPr/>
        </p:nvSpPr>
        <p:spPr>
          <a:xfrm>
            <a:off x="98250" y="731475"/>
            <a:ext cx="4265700" cy="418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Blind Test Set (Dev3) Results:</a:t>
            </a:r>
            <a:endParaRPr b="1" sz="1100"/>
          </a:p>
          <a:p>
            <a:pPr indent="-298450" lvl="0" marL="457200" rtl="0" algn="l">
              <a:lnSpc>
                <a:spcPct val="115000"/>
              </a:lnSpc>
              <a:spcBef>
                <a:spcPts val="1200"/>
              </a:spcBef>
              <a:spcAft>
                <a:spcPts val="0"/>
              </a:spcAft>
              <a:buSzPts val="1100"/>
              <a:buChar char="●"/>
            </a:pPr>
            <a:r>
              <a:rPr b="1" lang="en" sz="1100"/>
              <a:t>nDCG@10:</a:t>
            </a:r>
            <a:r>
              <a:rPr lang="en" sz="1100"/>
              <a:t> </a:t>
            </a:r>
            <a:r>
              <a:rPr b="1" lang="en" sz="1100"/>
              <a:t>0.6347</a:t>
            </a:r>
            <a:endParaRPr sz="1100"/>
          </a:p>
          <a:p>
            <a:pPr indent="-298450" lvl="0" marL="457200" rtl="0" algn="l">
              <a:lnSpc>
                <a:spcPct val="115000"/>
              </a:lnSpc>
              <a:spcBef>
                <a:spcPts val="0"/>
              </a:spcBef>
              <a:spcAft>
                <a:spcPts val="0"/>
              </a:spcAft>
              <a:buSzPts val="1100"/>
              <a:buChar char="●"/>
            </a:pPr>
            <a:r>
              <a:rPr b="1" lang="en" sz="1100"/>
              <a:t>MRR Boost:</a:t>
            </a:r>
            <a:r>
              <a:rPr lang="en" sz="1100"/>
              <a:t> </a:t>
            </a:r>
            <a:r>
              <a:rPr b="1" lang="en" sz="1100"/>
              <a:t>+29.2%</a:t>
            </a:r>
            <a:r>
              <a:rPr lang="en" sz="1100"/>
              <a:t> over Cross-Encoder.</a:t>
            </a:r>
            <a:endParaRPr sz="1100"/>
          </a:p>
          <a:p>
            <a:pPr indent="-298450" lvl="0" marL="457200" rtl="0" algn="l">
              <a:lnSpc>
                <a:spcPct val="115000"/>
              </a:lnSpc>
              <a:spcBef>
                <a:spcPts val="0"/>
              </a:spcBef>
              <a:spcAft>
                <a:spcPts val="0"/>
              </a:spcAft>
              <a:buSzPts val="1100"/>
              <a:buChar char="●"/>
            </a:pPr>
            <a:r>
              <a:rPr i="1" lang="en" sz="1100"/>
              <a:t>Significance:</a:t>
            </a:r>
            <a:r>
              <a:rPr lang="en" sz="1100"/>
              <a:t> The LLM excels at moving the ground truth to the precise Rank-1 position.</a:t>
            </a:r>
            <a:endParaRPr sz="1100"/>
          </a:p>
          <a:p>
            <a:pPr indent="0" lvl="0" marL="0" rtl="0" algn="l">
              <a:lnSpc>
                <a:spcPct val="115000"/>
              </a:lnSpc>
              <a:spcBef>
                <a:spcPts val="1200"/>
              </a:spcBef>
              <a:spcAft>
                <a:spcPts val="0"/>
              </a:spcAft>
              <a:buNone/>
            </a:pPr>
            <a:r>
              <a:rPr b="1" lang="en" sz="1100"/>
              <a:t>The "Regression" Anomaly:</a:t>
            </a:r>
            <a:endParaRPr b="1" sz="1100"/>
          </a:p>
          <a:p>
            <a:pPr indent="-298450" lvl="0" marL="457200" rtl="0" algn="l">
              <a:lnSpc>
                <a:spcPct val="115000"/>
              </a:lnSpc>
              <a:spcBef>
                <a:spcPts val="1200"/>
              </a:spcBef>
              <a:spcAft>
                <a:spcPts val="0"/>
              </a:spcAft>
              <a:buSzPts val="1100"/>
              <a:buChar char="●"/>
            </a:pPr>
            <a:r>
              <a:rPr b="1" lang="en" sz="1100"/>
              <a:t>Observation:</a:t>
            </a:r>
            <a:r>
              <a:rPr lang="en" sz="1100"/>
              <a:t> While Test performance soared, </a:t>
            </a:r>
            <a:r>
              <a:rPr b="1" lang="en" sz="1100"/>
              <a:t>Training set performance dropped (-13.7%)</a:t>
            </a:r>
            <a:r>
              <a:rPr lang="en" sz="1100"/>
              <a:t>.</a:t>
            </a:r>
            <a:endParaRPr sz="1100"/>
          </a:p>
          <a:p>
            <a:pPr indent="0" lvl="0" marL="0" rtl="0" algn="l">
              <a:lnSpc>
                <a:spcPct val="115000"/>
              </a:lnSpc>
              <a:spcBef>
                <a:spcPts val="1200"/>
              </a:spcBef>
              <a:spcAft>
                <a:spcPts val="0"/>
              </a:spcAft>
              <a:buNone/>
            </a:pPr>
            <a:r>
              <a:rPr b="1" lang="en" sz="1100"/>
              <a:t>Explanation:</a:t>
            </a:r>
            <a:endParaRPr b="1" sz="1100"/>
          </a:p>
          <a:p>
            <a:pPr indent="-298450" lvl="0" marL="457200" rtl="0" algn="l">
              <a:lnSpc>
                <a:spcPct val="115000"/>
              </a:lnSpc>
              <a:spcBef>
                <a:spcPts val="1200"/>
              </a:spcBef>
              <a:spcAft>
                <a:spcPts val="0"/>
              </a:spcAft>
              <a:buSzPts val="1100"/>
              <a:buChar char="●"/>
            </a:pPr>
            <a:r>
              <a:rPr b="1" lang="en" sz="1100"/>
              <a:t>Pipeline Overfitting:</a:t>
            </a:r>
            <a:r>
              <a:rPr lang="en" sz="1100"/>
              <a:t> Previous stages (Sparse/Dense/Cross) were heavily tuned on the Train set, likely overfitting to specific patterns.</a:t>
            </a:r>
            <a:endParaRPr sz="1100"/>
          </a:p>
          <a:p>
            <a:pPr indent="-298450" lvl="0" marL="457200" rtl="0" algn="l">
              <a:lnSpc>
                <a:spcPct val="115000"/>
              </a:lnSpc>
              <a:spcBef>
                <a:spcPts val="0"/>
              </a:spcBef>
              <a:spcAft>
                <a:spcPts val="0"/>
              </a:spcAft>
              <a:buSzPts val="1100"/>
              <a:buChar char="●"/>
            </a:pPr>
            <a:r>
              <a:rPr b="1" lang="en" sz="1100"/>
              <a:t>LLM Robustness:</a:t>
            </a:r>
            <a:r>
              <a:rPr lang="en" sz="1100"/>
              <a:t> The LLM acts as a </a:t>
            </a:r>
            <a:r>
              <a:rPr b="1" lang="en" sz="1100"/>
              <a:t>Zero-Shot Generalist</a:t>
            </a:r>
            <a:r>
              <a:rPr lang="en" sz="1100"/>
              <a:t>. It ignores dataset-specific artifacts and re-ranks based on broad semantic reasoning.</a:t>
            </a:r>
            <a:endParaRPr sz="1100"/>
          </a:p>
          <a:p>
            <a:pPr indent="-298450" lvl="0" marL="457200" rtl="0" algn="l">
              <a:lnSpc>
                <a:spcPct val="115000"/>
              </a:lnSpc>
              <a:spcBef>
                <a:spcPts val="0"/>
              </a:spcBef>
              <a:spcAft>
                <a:spcPts val="0"/>
              </a:spcAft>
              <a:buSzPts val="1100"/>
              <a:buChar char="●"/>
            </a:pPr>
            <a:r>
              <a:rPr i="1" lang="en" sz="1100"/>
              <a:t>Conclusion:</a:t>
            </a:r>
            <a:r>
              <a:rPr lang="en" sz="1100"/>
              <a:t> The LLM corrects the overfitting, resulting in a slightly lower Train score but massive gains on unseen data.</a:t>
            </a:r>
            <a:endParaRPr sz="1100"/>
          </a:p>
          <a:p>
            <a:pPr indent="0" lvl="0" marL="0" rtl="0" algn="l">
              <a:spcBef>
                <a:spcPts val="1200"/>
              </a:spcBef>
              <a:spcAft>
                <a:spcPts val="0"/>
              </a:spcAft>
              <a:buNone/>
            </a:pPr>
            <a:r>
              <a:t/>
            </a:r>
            <a:endParaRPr sz="1100">
              <a:solidFill>
                <a:schemeClr val="lt2"/>
              </a:solidFill>
              <a:latin typeface="Roboto"/>
              <a:ea typeface="Roboto"/>
              <a:cs typeface="Roboto"/>
              <a:sym typeface="Roboto"/>
            </a:endParaRPr>
          </a:p>
        </p:txBody>
      </p:sp>
      <p:pic>
        <p:nvPicPr>
          <p:cNvPr id="290" name="Google Shape;290;p44" title="llm_vs_ce_gain.png"/>
          <p:cNvPicPr preferRelativeResize="0"/>
          <p:nvPr/>
        </p:nvPicPr>
        <p:blipFill>
          <a:blip r:embed="rId3">
            <a:alphaModFix/>
          </a:blip>
          <a:stretch>
            <a:fillRect/>
          </a:stretch>
        </p:blipFill>
        <p:spPr>
          <a:xfrm>
            <a:off x="4503050" y="731475"/>
            <a:ext cx="4502252" cy="2701775"/>
          </a:xfrm>
          <a:prstGeom prst="rect">
            <a:avLst/>
          </a:prstGeom>
          <a:noFill/>
          <a:ln>
            <a:noFill/>
          </a:ln>
        </p:spPr>
      </p:pic>
      <p:pic>
        <p:nvPicPr>
          <p:cNvPr id="291" name="Google Shape;291;p44"/>
          <p:cNvPicPr preferRelativeResize="0"/>
          <p:nvPr/>
        </p:nvPicPr>
        <p:blipFill>
          <a:blip r:embed="rId4">
            <a:alphaModFix/>
          </a:blip>
          <a:stretch>
            <a:fillRect/>
          </a:stretch>
        </p:blipFill>
        <p:spPr>
          <a:xfrm>
            <a:off x="4871275" y="3545675"/>
            <a:ext cx="3765800" cy="930100"/>
          </a:xfrm>
          <a:prstGeom prst="rect">
            <a:avLst/>
          </a:prstGeom>
          <a:noFill/>
          <a:ln>
            <a:noFill/>
          </a:ln>
        </p:spPr>
      </p:pic>
      <p:sp>
        <p:nvSpPr>
          <p:cNvPr id="292" name="Google Shape;292;p44"/>
          <p:cNvSpPr txBox="1"/>
          <p:nvPr/>
        </p:nvSpPr>
        <p:spPr>
          <a:xfrm>
            <a:off x="4937750" y="4393700"/>
            <a:ext cx="3765900" cy="6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latin typeface="Roboto"/>
                <a:ea typeface="Roboto"/>
                <a:cs typeface="Roboto"/>
                <a:sym typeface="Roboto"/>
              </a:rPr>
              <a:t>Table: Performance comparison between the Cross Encoder(Input) and LLM Re-ranker(Output) on the pseudo-test set(dev3).</a:t>
            </a:r>
            <a:endParaRPr b="1" sz="1000">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50"/>
              <a:t>Final Pipeline Validation</a:t>
            </a:r>
            <a:endParaRPr b="1" sz="2150"/>
          </a:p>
        </p:txBody>
      </p:sp>
      <p:pic>
        <p:nvPicPr>
          <p:cNvPr id="298" name="Google Shape;298;p45" title="retrieval_pipeline_table.png"/>
          <p:cNvPicPr preferRelativeResize="0"/>
          <p:nvPr/>
        </p:nvPicPr>
        <p:blipFill rotWithShape="1">
          <a:blip r:embed="rId3">
            <a:alphaModFix/>
          </a:blip>
          <a:srcRect b="14468" l="0" r="0" t="15262"/>
          <a:stretch/>
        </p:blipFill>
        <p:spPr>
          <a:xfrm>
            <a:off x="0" y="772700"/>
            <a:ext cx="9144003" cy="2029950"/>
          </a:xfrm>
          <a:prstGeom prst="rect">
            <a:avLst/>
          </a:prstGeom>
          <a:noFill/>
          <a:ln>
            <a:noFill/>
          </a:ln>
        </p:spPr>
      </p:pic>
      <p:sp>
        <p:nvSpPr>
          <p:cNvPr id="299" name="Google Shape;299;p45"/>
          <p:cNvSpPr txBox="1"/>
          <p:nvPr/>
        </p:nvSpPr>
        <p:spPr>
          <a:xfrm>
            <a:off x="246900" y="2802650"/>
            <a:ext cx="7626000" cy="203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t>Test Set Characteristics:</a:t>
            </a:r>
            <a:endParaRPr b="1" sz="1100"/>
          </a:p>
          <a:p>
            <a:pPr indent="-298450" lvl="0" marL="457200" rtl="0" algn="l">
              <a:lnSpc>
                <a:spcPct val="115000"/>
              </a:lnSpc>
              <a:spcBef>
                <a:spcPts val="0"/>
              </a:spcBef>
              <a:spcAft>
                <a:spcPts val="0"/>
              </a:spcAft>
              <a:buSzPts val="1100"/>
              <a:buChar char="●"/>
            </a:pPr>
            <a:r>
              <a:rPr lang="en" sz="1100"/>
              <a:t>Evaluated on a strictly </a:t>
            </a:r>
            <a:r>
              <a:rPr b="1" lang="en" sz="1100"/>
              <a:t>held-out test set</a:t>
            </a:r>
            <a:r>
              <a:rPr lang="en" sz="1100"/>
              <a:t>.</a:t>
            </a:r>
            <a:endParaRPr sz="1100"/>
          </a:p>
          <a:p>
            <a:pPr indent="-298450" lvl="0" marL="457200" rtl="0" algn="l">
              <a:lnSpc>
                <a:spcPct val="115000"/>
              </a:lnSpc>
              <a:spcBef>
                <a:spcPts val="0"/>
              </a:spcBef>
              <a:spcAft>
                <a:spcPts val="0"/>
              </a:spcAft>
              <a:buSzPts val="1100"/>
              <a:buChar char="●"/>
            </a:pPr>
            <a:r>
              <a:rPr b="1" lang="en" sz="1100"/>
              <a:t>Challenge Level:</a:t>
            </a:r>
            <a:r>
              <a:rPr lang="en" sz="1100"/>
              <a:t> Significantly higher than development sets.</a:t>
            </a:r>
            <a:endParaRPr sz="1100"/>
          </a:p>
          <a:p>
            <a:pPr indent="-298450" lvl="0" marL="457200" rtl="0" algn="l">
              <a:lnSpc>
                <a:spcPct val="115000"/>
              </a:lnSpc>
              <a:spcBef>
                <a:spcPts val="0"/>
              </a:spcBef>
              <a:spcAft>
                <a:spcPts val="0"/>
              </a:spcAft>
              <a:buSzPts val="1100"/>
              <a:buChar char="●"/>
            </a:pPr>
            <a:r>
              <a:rPr b="1" lang="en" sz="1100"/>
              <a:t>Features:</a:t>
            </a:r>
            <a:r>
              <a:rPr lang="en" sz="1100"/>
              <a:t> Characterized by lower absolute recall baselines and high query ambiguity (hard ToT cases).</a:t>
            </a:r>
            <a:endParaRPr sz="1100"/>
          </a:p>
          <a:p>
            <a:pPr indent="0" lvl="0" marL="0" rtl="0" algn="l">
              <a:lnSpc>
                <a:spcPct val="115000"/>
              </a:lnSpc>
              <a:spcBef>
                <a:spcPts val="1200"/>
              </a:spcBef>
              <a:spcAft>
                <a:spcPts val="0"/>
              </a:spcAft>
              <a:buNone/>
            </a:pPr>
            <a:r>
              <a:rPr b="1" lang="en" sz="1100"/>
              <a:t>Performance Impact:</a:t>
            </a:r>
            <a:endParaRPr b="1" sz="1100"/>
          </a:p>
          <a:p>
            <a:pPr indent="-298450" lvl="0" marL="457200" rtl="0" algn="l">
              <a:lnSpc>
                <a:spcPct val="115000"/>
              </a:lnSpc>
              <a:spcBef>
                <a:spcPts val="0"/>
              </a:spcBef>
              <a:spcAft>
                <a:spcPts val="0"/>
              </a:spcAft>
              <a:buSzPts val="1100"/>
              <a:buChar char="●"/>
            </a:pPr>
            <a:r>
              <a:rPr lang="en" sz="1100"/>
              <a:t>Achieved a </a:t>
            </a:r>
            <a:r>
              <a:rPr b="1" lang="en" sz="1100"/>
              <a:t>+113.2% gain</a:t>
            </a:r>
            <a:r>
              <a:rPr lang="en" sz="1100"/>
              <a:t> in nDCG@10 over the sparse baseline.</a:t>
            </a:r>
            <a:endParaRPr sz="1100"/>
          </a:p>
          <a:p>
            <a:pPr indent="-298450" lvl="0" marL="457200" rtl="0" algn="l">
              <a:lnSpc>
                <a:spcPct val="115000"/>
              </a:lnSpc>
              <a:spcBef>
                <a:spcPts val="0"/>
              </a:spcBef>
              <a:spcAft>
                <a:spcPts val="0"/>
              </a:spcAft>
              <a:buSzPts val="1100"/>
              <a:buChar char="●"/>
            </a:pPr>
            <a:r>
              <a:rPr b="1" lang="en" sz="1100"/>
              <a:t>Success@10</a:t>
            </a:r>
            <a:r>
              <a:rPr lang="en" sz="1100"/>
              <a:t> nearly doubled (0.24 → 0.45).</a:t>
            </a:r>
            <a:endParaRPr sz="1100"/>
          </a:p>
          <a:p>
            <a:pPr indent="0" lvl="0" marL="0" rtl="0" algn="l">
              <a:lnSpc>
                <a:spcPct val="115000"/>
              </a:lnSpc>
              <a:spcBef>
                <a:spcPts val="1200"/>
              </a:spcBef>
              <a:spcAft>
                <a:spcPts val="0"/>
              </a:spcAft>
              <a:buNone/>
            </a:pPr>
            <a:r>
              <a:rPr b="1" lang="en" sz="1100"/>
              <a:t>Validation:</a:t>
            </a:r>
            <a:endParaRPr b="1" sz="1100"/>
          </a:p>
          <a:p>
            <a:pPr indent="-298450" lvl="0" marL="457200" rtl="0" algn="l">
              <a:lnSpc>
                <a:spcPct val="115000"/>
              </a:lnSpc>
              <a:spcBef>
                <a:spcPts val="0"/>
              </a:spcBef>
              <a:spcAft>
                <a:spcPts val="0"/>
              </a:spcAft>
              <a:buSzPts val="1100"/>
              <a:buChar char="●"/>
            </a:pPr>
            <a:r>
              <a:rPr lang="en" sz="1100"/>
              <a:t>Results confirm that a single-stage retriever cannot handle ToT tasks. A cascaded approach is essential.</a:t>
            </a:r>
            <a:endParaRPr sz="1100"/>
          </a:p>
          <a:p>
            <a:pPr indent="0" lvl="0" marL="0" rtl="0" algn="l">
              <a:spcBef>
                <a:spcPts val="1200"/>
              </a:spcBef>
              <a:spcAft>
                <a:spcPts val="0"/>
              </a:spcAft>
              <a:buNone/>
            </a:pPr>
            <a:r>
              <a:t/>
            </a:r>
            <a:endParaRPr sz="1800">
              <a:solidFill>
                <a:schemeClr val="lt2"/>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50"/>
              <a:t>Impact of Architectural Evolution (V1 vs. V2)</a:t>
            </a:r>
            <a:endParaRPr b="1" sz="2150"/>
          </a:p>
        </p:txBody>
      </p:sp>
      <p:sp>
        <p:nvSpPr>
          <p:cNvPr id="305" name="Google Shape;305;p46"/>
          <p:cNvSpPr txBox="1"/>
          <p:nvPr/>
        </p:nvSpPr>
        <p:spPr>
          <a:xfrm>
            <a:off x="271525" y="2402150"/>
            <a:ext cx="8480100" cy="270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50">
                <a:latin typeface="Roboto"/>
                <a:ea typeface="Roboto"/>
                <a:cs typeface="Roboto"/>
                <a:sym typeface="Roboto"/>
              </a:rPr>
              <a:t>The Paradigm Shift:</a:t>
            </a:r>
            <a:endParaRPr b="1" sz="1150">
              <a:latin typeface="Roboto"/>
              <a:ea typeface="Roboto"/>
              <a:cs typeface="Roboto"/>
              <a:sym typeface="Roboto"/>
            </a:endParaRPr>
          </a:p>
          <a:p>
            <a:pPr indent="-301625" lvl="0" marL="457200" rtl="0" algn="l">
              <a:lnSpc>
                <a:spcPct val="115000"/>
              </a:lnSpc>
              <a:spcBef>
                <a:spcPts val="0"/>
              </a:spcBef>
              <a:spcAft>
                <a:spcPts val="0"/>
              </a:spcAft>
              <a:buSzPts val="1150"/>
              <a:buChar char="●"/>
            </a:pPr>
            <a:r>
              <a:rPr b="1" lang="en" sz="1150">
                <a:latin typeface="Roboto"/>
                <a:ea typeface="Roboto"/>
                <a:cs typeface="Roboto"/>
                <a:sym typeface="Roboto"/>
              </a:rPr>
              <a:t>Pipeline V1 (Failed):</a:t>
            </a:r>
            <a:r>
              <a:rPr lang="en" sz="1150">
                <a:latin typeface="Roboto"/>
                <a:ea typeface="Roboto"/>
                <a:cs typeface="Roboto"/>
                <a:sym typeface="Roboto"/>
              </a:rPr>
              <a:t> Focused on </a:t>
            </a:r>
            <a:r>
              <a:rPr i="1" lang="en" sz="1150">
                <a:latin typeface="Roboto"/>
                <a:ea typeface="Roboto"/>
                <a:cs typeface="Roboto"/>
                <a:sym typeface="Roboto"/>
              </a:rPr>
              <a:t>Feature Engineering</a:t>
            </a:r>
            <a:r>
              <a:rPr lang="en" sz="1150">
                <a:latin typeface="Roboto"/>
                <a:ea typeface="Roboto"/>
                <a:cs typeface="Roboto"/>
                <a:sym typeface="Roboto"/>
              </a:rPr>
              <a:t> (Learning-to-Rank, aggressive fusion) → Failed due to low recall and signal dilution.</a:t>
            </a:r>
            <a:endParaRPr sz="1150">
              <a:latin typeface="Roboto"/>
              <a:ea typeface="Roboto"/>
              <a:cs typeface="Roboto"/>
              <a:sym typeface="Roboto"/>
            </a:endParaRPr>
          </a:p>
          <a:p>
            <a:pPr indent="-301625" lvl="0" marL="457200" rtl="0" algn="l">
              <a:lnSpc>
                <a:spcPct val="115000"/>
              </a:lnSpc>
              <a:spcBef>
                <a:spcPts val="0"/>
              </a:spcBef>
              <a:spcAft>
                <a:spcPts val="0"/>
              </a:spcAft>
              <a:buSzPts val="1150"/>
              <a:buChar char="●"/>
            </a:pPr>
            <a:r>
              <a:rPr b="1" lang="en" sz="1150">
                <a:latin typeface="Roboto"/>
                <a:ea typeface="Roboto"/>
                <a:cs typeface="Roboto"/>
                <a:sym typeface="Roboto"/>
              </a:rPr>
              <a:t>Pipeline V2 (Final):</a:t>
            </a:r>
            <a:r>
              <a:rPr lang="en" sz="1150">
                <a:latin typeface="Roboto"/>
                <a:ea typeface="Roboto"/>
                <a:cs typeface="Roboto"/>
                <a:sym typeface="Roboto"/>
              </a:rPr>
              <a:t> Focused on </a:t>
            </a:r>
            <a:r>
              <a:rPr i="1" lang="en" sz="1150">
                <a:latin typeface="Roboto"/>
                <a:ea typeface="Roboto"/>
                <a:cs typeface="Roboto"/>
                <a:sym typeface="Roboto"/>
              </a:rPr>
              <a:t>Intent Engineering</a:t>
            </a:r>
            <a:r>
              <a:rPr lang="en" sz="1150">
                <a:latin typeface="Roboto"/>
                <a:ea typeface="Roboto"/>
                <a:cs typeface="Roboto"/>
                <a:sym typeface="Roboto"/>
              </a:rPr>
              <a:t> (Reformulation) and </a:t>
            </a:r>
            <a:r>
              <a:rPr i="1" lang="en" sz="1150">
                <a:latin typeface="Roboto"/>
                <a:ea typeface="Roboto"/>
                <a:cs typeface="Roboto"/>
                <a:sym typeface="Roboto"/>
              </a:rPr>
              <a:t>Semantic Interaction</a:t>
            </a:r>
            <a:r>
              <a:rPr lang="en" sz="1150">
                <a:latin typeface="Roboto"/>
                <a:ea typeface="Roboto"/>
                <a:cs typeface="Roboto"/>
                <a:sym typeface="Roboto"/>
              </a:rPr>
              <a:t> (Cross-Encoder/LLM) → Succeeded by fixing the input and using deeper models.</a:t>
            </a:r>
            <a:endParaRPr sz="1150">
              <a:latin typeface="Roboto"/>
              <a:ea typeface="Roboto"/>
              <a:cs typeface="Roboto"/>
              <a:sym typeface="Roboto"/>
            </a:endParaRPr>
          </a:p>
          <a:p>
            <a:pPr indent="0" lvl="0" marL="0" rtl="0" algn="l">
              <a:lnSpc>
                <a:spcPct val="115000"/>
              </a:lnSpc>
              <a:spcBef>
                <a:spcPts val="1200"/>
              </a:spcBef>
              <a:spcAft>
                <a:spcPts val="0"/>
              </a:spcAft>
              <a:buNone/>
            </a:pPr>
            <a:r>
              <a:rPr b="1" lang="en" sz="1150">
                <a:latin typeface="Roboto"/>
                <a:ea typeface="Roboto"/>
                <a:cs typeface="Roboto"/>
                <a:sym typeface="Roboto"/>
              </a:rPr>
              <a:t>Quantitative Lift:</a:t>
            </a:r>
            <a:endParaRPr b="1" sz="1150">
              <a:latin typeface="Roboto"/>
              <a:ea typeface="Roboto"/>
              <a:cs typeface="Roboto"/>
              <a:sym typeface="Roboto"/>
            </a:endParaRPr>
          </a:p>
          <a:p>
            <a:pPr indent="-301625" lvl="0" marL="457200" rtl="0" algn="l">
              <a:lnSpc>
                <a:spcPct val="115000"/>
              </a:lnSpc>
              <a:spcBef>
                <a:spcPts val="0"/>
              </a:spcBef>
              <a:spcAft>
                <a:spcPts val="0"/>
              </a:spcAft>
              <a:buSzPts val="1150"/>
              <a:buChar char="●"/>
            </a:pPr>
            <a:r>
              <a:rPr b="1" lang="en" sz="1150">
                <a:latin typeface="Roboto"/>
                <a:ea typeface="Roboto"/>
                <a:cs typeface="Roboto"/>
                <a:sym typeface="Roboto"/>
              </a:rPr>
              <a:t>Ranking Quality (nDCG@10):</a:t>
            </a:r>
            <a:r>
              <a:rPr lang="en" sz="1150">
                <a:latin typeface="Roboto"/>
                <a:ea typeface="Roboto"/>
                <a:cs typeface="Roboto"/>
                <a:sym typeface="Roboto"/>
              </a:rPr>
              <a:t> </a:t>
            </a:r>
            <a:r>
              <a:rPr b="1" lang="en" sz="1150">
                <a:latin typeface="Roboto"/>
                <a:ea typeface="Roboto"/>
                <a:cs typeface="Roboto"/>
                <a:sym typeface="Roboto"/>
              </a:rPr>
              <a:t>+463%</a:t>
            </a:r>
            <a:r>
              <a:rPr lang="en" sz="1150">
                <a:latin typeface="Roboto"/>
                <a:ea typeface="Roboto"/>
                <a:cs typeface="Roboto"/>
                <a:sym typeface="Roboto"/>
              </a:rPr>
              <a:t> improvement. The system went from "random guessing" to state-of-the-art ranking.</a:t>
            </a:r>
            <a:endParaRPr sz="1150">
              <a:latin typeface="Roboto"/>
              <a:ea typeface="Roboto"/>
              <a:cs typeface="Roboto"/>
              <a:sym typeface="Roboto"/>
            </a:endParaRPr>
          </a:p>
          <a:p>
            <a:pPr indent="-301625" lvl="0" marL="457200" rtl="0" algn="l">
              <a:lnSpc>
                <a:spcPct val="115000"/>
              </a:lnSpc>
              <a:spcBef>
                <a:spcPts val="0"/>
              </a:spcBef>
              <a:spcAft>
                <a:spcPts val="0"/>
              </a:spcAft>
              <a:buSzPts val="1150"/>
              <a:buChar char="●"/>
            </a:pPr>
            <a:r>
              <a:rPr b="1" lang="en" sz="1150">
                <a:latin typeface="Roboto"/>
                <a:ea typeface="Roboto"/>
                <a:cs typeface="Roboto"/>
                <a:sym typeface="Roboto"/>
              </a:rPr>
              <a:t>User Success (Success@10):</a:t>
            </a:r>
            <a:r>
              <a:rPr lang="en" sz="1150">
                <a:latin typeface="Roboto"/>
                <a:ea typeface="Roboto"/>
                <a:cs typeface="Roboto"/>
                <a:sym typeface="Roboto"/>
              </a:rPr>
              <a:t> </a:t>
            </a:r>
            <a:r>
              <a:rPr b="1" lang="en" sz="1150">
                <a:latin typeface="Roboto"/>
                <a:ea typeface="Roboto"/>
                <a:cs typeface="Roboto"/>
                <a:sym typeface="Roboto"/>
              </a:rPr>
              <a:t>+351%</a:t>
            </a:r>
            <a:r>
              <a:rPr lang="en" sz="1150">
                <a:latin typeface="Roboto"/>
                <a:ea typeface="Roboto"/>
                <a:cs typeface="Roboto"/>
                <a:sym typeface="Roboto"/>
              </a:rPr>
              <a:t> increase. The probability of a user finding their answer in the top 10 rose from </a:t>
            </a:r>
            <a:r>
              <a:rPr b="1" lang="en" sz="1150">
                <a:latin typeface="Roboto"/>
                <a:ea typeface="Roboto"/>
                <a:cs typeface="Roboto"/>
                <a:sym typeface="Roboto"/>
              </a:rPr>
              <a:t>10%</a:t>
            </a:r>
            <a:r>
              <a:rPr lang="en" sz="1150">
                <a:latin typeface="Roboto"/>
                <a:ea typeface="Roboto"/>
                <a:cs typeface="Roboto"/>
                <a:sym typeface="Roboto"/>
              </a:rPr>
              <a:t> to </a:t>
            </a:r>
            <a:r>
              <a:rPr b="1" lang="en" sz="1150">
                <a:latin typeface="Roboto"/>
                <a:ea typeface="Roboto"/>
                <a:cs typeface="Roboto"/>
                <a:sym typeface="Roboto"/>
              </a:rPr>
              <a:t>45%</a:t>
            </a:r>
            <a:r>
              <a:rPr lang="en" sz="1150">
                <a:latin typeface="Roboto"/>
                <a:ea typeface="Roboto"/>
                <a:cs typeface="Roboto"/>
                <a:sym typeface="Roboto"/>
              </a:rPr>
              <a:t>.</a:t>
            </a:r>
            <a:endParaRPr sz="1150">
              <a:latin typeface="Roboto"/>
              <a:ea typeface="Roboto"/>
              <a:cs typeface="Roboto"/>
              <a:sym typeface="Roboto"/>
            </a:endParaRPr>
          </a:p>
          <a:p>
            <a:pPr indent="0" lvl="0" marL="0" rtl="0" algn="l">
              <a:lnSpc>
                <a:spcPct val="115000"/>
              </a:lnSpc>
              <a:spcBef>
                <a:spcPts val="1200"/>
              </a:spcBef>
              <a:spcAft>
                <a:spcPts val="0"/>
              </a:spcAft>
              <a:buNone/>
            </a:pPr>
            <a:r>
              <a:rPr b="1" lang="en" sz="1150">
                <a:latin typeface="Roboto"/>
                <a:ea typeface="Roboto"/>
                <a:cs typeface="Roboto"/>
                <a:sym typeface="Roboto"/>
              </a:rPr>
              <a:t>Conclusion:</a:t>
            </a:r>
            <a:endParaRPr b="1" sz="1150">
              <a:latin typeface="Roboto"/>
              <a:ea typeface="Roboto"/>
              <a:cs typeface="Roboto"/>
              <a:sym typeface="Roboto"/>
            </a:endParaRPr>
          </a:p>
          <a:p>
            <a:pPr indent="-301625" lvl="0" marL="457200" rtl="0" algn="l">
              <a:lnSpc>
                <a:spcPct val="115000"/>
              </a:lnSpc>
              <a:spcBef>
                <a:spcPts val="0"/>
              </a:spcBef>
              <a:spcAft>
                <a:spcPts val="0"/>
              </a:spcAft>
              <a:buSzPts val="1150"/>
              <a:buChar char="●"/>
            </a:pPr>
            <a:r>
              <a:rPr lang="en" sz="1150">
                <a:latin typeface="Roboto"/>
                <a:ea typeface="Roboto"/>
                <a:cs typeface="Roboto"/>
                <a:sym typeface="Roboto"/>
              </a:rPr>
              <a:t>Complexity is not enough. For ambiguous ToT queries, </a:t>
            </a:r>
            <a:r>
              <a:rPr b="1" lang="en" sz="1150">
                <a:latin typeface="Roboto"/>
                <a:ea typeface="Roboto"/>
                <a:cs typeface="Roboto"/>
                <a:sym typeface="Roboto"/>
              </a:rPr>
              <a:t>reformulation is non-negotiable</a:t>
            </a:r>
            <a:r>
              <a:rPr lang="en" sz="1150">
                <a:latin typeface="Roboto"/>
                <a:ea typeface="Roboto"/>
                <a:cs typeface="Roboto"/>
                <a:sym typeface="Roboto"/>
              </a:rPr>
              <a:t>.</a:t>
            </a:r>
            <a:endParaRPr sz="1150">
              <a:latin typeface="Roboto"/>
              <a:ea typeface="Roboto"/>
              <a:cs typeface="Roboto"/>
              <a:sym typeface="Roboto"/>
            </a:endParaRPr>
          </a:p>
          <a:p>
            <a:pPr indent="0" lvl="0" marL="0" rtl="0" algn="l">
              <a:spcBef>
                <a:spcPts val="1200"/>
              </a:spcBef>
              <a:spcAft>
                <a:spcPts val="0"/>
              </a:spcAft>
              <a:buNone/>
            </a:pPr>
            <a:r>
              <a:t/>
            </a:r>
            <a:endParaRPr sz="1150">
              <a:solidFill>
                <a:schemeClr val="lt2"/>
              </a:solidFill>
              <a:latin typeface="Roboto"/>
              <a:ea typeface="Roboto"/>
              <a:cs typeface="Roboto"/>
              <a:sym typeface="Roboto"/>
            </a:endParaRPr>
          </a:p>
        </p:txBody>
      </p:sp>
      <p:pic>
        <p:nvPicPr>
          <p:cNvPr id="306" name="Google Shape;306;p46"/>
          <p:cNvPicPr preferRelativeResize="0"/>
          <p:nvPr/>
        </p:nvPicPr>
        <p:blipFill>
          <a:blip r:embed="rId3">
            <a:alphaModFix/>
          </a:blip>
          <a:stretch>
            <a:fillRect/>
          </a:stretch>
        </p:blipFill>
        <p:spPr>
          <a:xfrm>
            <a:off x="271525" y="673913"/>
            <a:ext cx="8480050" cy="16733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grpSp>
        <p:nvGrpSpPr>
          <p:cNvPr id="311" name="Google Shape;311;p47"/>
          <p:cNvGrpSpPr/>
          <p:nvPr/>
        </p:nvGrpSpPr>
        <p:grpSpPr>
          <a:xfrm>
            <a:off x="5865975" y="1206071"/>
            <a:ext cx="3205868" cy="2953440"/>
            <a:chOff x="5777092" y="1189775"/>
            <a:chExt cx="3305700" cy="2978459"/>
          </a:xfrm>
        </p:grpSpPr>
        <p:sp>
          <p:nvSpPr>
            <p:cNvPr id="312" name="Google Shape;312;p47"/>
            <p:cNvSpPr/>
            <p:nvPr/>
          </p:nvSpPr>
          <p:spPr>
            <a:xfrm>
              <a:off x="5777092" y="1189775"/>
              <a:ext cx="3305700" cy="669000"/>
            </a:xfrm>
            <a:prstGeom prst="chevron">
              <a:avLst>
                <a:gd fmla="val 50000" name="adj"/>
              </a:avLst>
            </a:prstGeom>
            <a:solidFill>
              <a:schemeClr val="dk1"/>
            </a:solidFill>
            <a:ln>
              <a:noFill/>
            </a:ln>
          </p:spPr>
          <p:txBody>
            <a:bodyPr anchorCtr="0" anchor="ctr" bIns="90650" lIns="90650" spcFirstLastPara="1" rIns="90650" wrap="square" tIns="90650">
              <a:noAutofit/>
            </a:bodyPr>
            <a:lstStyle/>
            <a:p>
              <a:pPr indent="0" lvl="0" marL="0" rtl="0" algn="ctr">
                <a:spcBef>
                  <a:spcPts val="0"/>
                </a:spcBef>
                <a:spcAft>
                  <a:spcPts val="0"/>
                </a:spcAft>
                <a:buNone/>
              </a:pPr>
              <a:r>
                <a:rPr b="1" lang="en" sz="1388">
                  <a:solidFill>
                    <a:schemeClr val="lt1"/>
                  </a:solidFill>
                  <a:latin typeface="Roboto"/>
                  <a:ea typeface="Roboto"/>
                  <a:cs typeface="Roboto"/>
                  <a:sym typeface="Roboto"/>
                </a:rPr>
                <a:t>Deploy LLMs as Last Stage Semantic Reasoners</a:t>
              </a:r>
              <a:endParaRPr b="1" sz="1388">
                <a:solidFill>
                  <a:schemeClr val="lt1"/>
                </a:solidFill>
                <a:latin typeface="Roboto"/>
                <a:ea typeface="Roboto"/>
                <a:cs typeface="Roboto"/>
                <a:sym typeface="Roboto"/>
              </a:endParaRPr>
            </a:p>
          </p:txBody>
        </p:sp>
        <p:sp>
          <p:nvSpPr>
            <p:cNvPr id="313" name="Google Shape;313;p47"/>
            <p:cNvSpPr txBox="1"/>
            <p:nvPr/>
          </p:nvSpPr>
          <p:spPr>
            <a:xfrm>
              <a:off x="6123008" y="2057134"/>
              <a:ext cx="2613900" cy="2111100"/>
            </a:xfrm>
            <a:prstGeom prst="rect">
              <a:avLst/>
            </a:prstGeom>
            <a:noFill/>
            <a:ln cap="flat" cmpd="sng" w="9525">
              <a:solidFill>
                <a:srgbClr val="000000"/>
              </a:solidFill>
              <a:prstDash val="solid"/>
              <a:round/>
              <a:headEnd len="sm" w="sm" type="none"/>
              <a:tailEnd len="sm" w="sm" type="none"/>
            </a:ln>
          </p:spPr>
          <p:txBody>
            <a:bodyPr anchorCtr="0" anchor="t" bIns="90650" lIns="90650" spcFirstLastPara="1" rIns="90650" wrap="square" tIns="90650">
              <a:noAutofit/>
            </a:bodyPr>
            <a:lstStyle/>
            <a:p>
              <a:pPr indent="-295954" lvl="0" marL="453377" rtl="0" algn="l">
                <a:lnSpc>
                  <a:spcPct val="115000"/>
                </a:lnSpc>
                <a:spcBef>
                  <a:spcPts val="0"/>
                </a:spcBef>
                <a:spcAft>
                  <a:spcPts val="0"/>
                </a:spcAft>
                <a:buSzPts val="1091"/>
                <a:buFont typeface="Roboto"/>
                <a:buChar char="●"/>
              </a:pPr>
              <a:r>
                <a:rPr lang="en" sz="1090">
                  <a:latin typeface="Roboto"/>
                  <a:ea typeface="Roboto"/>
                  <a:cs typeface="Roboto"/>
                  <a:sym typeface="Roboto"/>
                </a:rPr>
                <a:t>The final precision gains come from large language models (72B+) acting as a listwise re-ranker. </a:t>
              </a:r>
              <a:endParaRPr sz="1090">
                <a:latin typeface="Roboto"/>
                <a:ea typeface="Roboto"/>
                <a:cs typeface="Roboto"/>
                <a:sym typeface="Roboto"/>
              </a:endParaRPr>
            </a:p>
            <a:p>
              <a:pPr indent="0" lvl="0" marL="0" rtl="0" algn="l">
                <a:lnSpc>
                  <a:spcPct val="115000"/>
                </a:lnSpc>
                <a:spcBef>
                  <a:spcPts val="0"/>
                </a:spcBef>
                <a:spcAft>
                  <a:spcPts val="0"/>
                </a:spcAft>
                <a:buNone/>
              </a:pPr>
              <a:r>
                <a:t/>
              </a:r>
              <a:endParaRPr sz="1090">
                <a:latin typeface="Roboto"/>
                <a:ea typeface="Roboto"/>
                <a:cs typeface="Roboto"/>
                <a:sym typeface="Roboto"/>
              </a:endParaRPr>
            </a:p>
            <a:p>
              <a:pPr indent="-295954" lvl="0" marL="453377" rtl="0" algn="l">
                <a:lnSpc>
                  <a:spcPct val="115000"/>
                </a:lnSpc>
                <a:spcBef>
                  <a:spcPts val="0"/>
                </a:spcBef>
                <a:spcAft>
                  <a:spcPts val="0"/>
                </a:spcAft>
                <a:buSzPts val="1091"/>
                <a:buFont typeface="Roboto"/>
                <a:buChar char="●"/>
              </a:pPr>
              <a:r>
                <a:rPr lang="en" sz="1090">
                  <a:latin typeface="Roboto"/>
                  <a:ea typeface="Roboto"/>
                  <a:cs typeface="Roboto"/>
                  <a:sym typeface="Roboto"/>
                </a:rPr>
                <a:t>Their extensive world knowledge allows them to resolve ambiguities that smaller, specialized models cannot.</a:t>
              </a:r>
              <a:endParaRPr sz="1090">
                <a:latin typeface="Roboto"/>
                <a:ea typeface="Roboto"/>
                <a:cs typeface="Roboto"/>
                <a:sym typeface="Roboto"/>
              </a:endParaRPr>
            </a:p>
          </p:txBody>
        </p:sp>
      </p:grpSp>
      <p:grpSp>
        <p:nvGrpSpPr>
          <p:cNvPr id="314" name="Google Shape;314;p47"/>
          <p:cNvGrpSpPr/>
          <p:nvPr/>
        </p:nvGrpSpPr>
        <p:grpSpPr>
          <a:xfrm>
            <a:off x="68750" y="1206180"/>
            <a:ext cx="3278045" cy="2953237"/>
            <a:chOff x="0" y="1189989"/>
            <a:chExt cx="3546900" cy="2978255"/>
          </a:xfrm>
        </p:grpSpPr>
        <p:sp>
          <p:nvSpPr>
            <p:cNvPr id="315" name="Google Shape;315;p47"/>
            <p:cNvSpPr/>
            <p:nvPr/>
          </p:nvSpPr>
          <p:spPr>
            <a:xfrm>
              <a:off x="0" y="1189989"/>
              <a:ext cx="3546900" cy="669000"/>
            </a:xfrm>
            <a:prstGeom prst="homePlate">
              <a:avLst>
                <a:gd fmla="val 50000" name="adj"/>
              </a:avLst>
            </a:prstGeom>
            <a:solidFill>
              <a:schemeClr val="dk1"/>
            </a:solidFill>
            <a:ln>
              <a:noFill/>
            </a:ln>
          </p:spPr>
          <p:txBody>
            <a:bodyPr anchorCtr="0" anchor="ctr" bIns="90650" lIns="90650" spcFirstLastPara="1" rIns="90650" wrap="square" tIns="90650">
              <a:noAutofit/>
            </a:bodyPr>
            <a:lstStyle/>
            <a:p>
              <a:pPr indent="0" lvl="0" marL="0" rtl="0" algn="ctr">
                <a:spcBef>
                  <a:spcPts val="0"/>
                </a:spcBef>
                <a:spcAft>
                  <a:spcPts val="0"/>
                </a:spcAft>
                <a:buNone/>
              </a:pPr>
              <a:r>
                <a:rPr b="1" lang="en" sz="1388">
                  <a:solidFill>
                    <a:schemeClr val="lt1"/>
                  </a:solidFill>
                  <a:latin typeface="Roboto"/>
                  <a:ea typeface="Roboto"/>
                  <a:cs typeface="Roboto"/>
                  <a:sym typeface="Roboto"/>
                </a:rPr>
                <a:t>Rewrite First Then Retrieve</a:t>
              </a:r>
              <a:endParaRPr b="1" sz="1388">
                <a:solidFill>
                  <a:schemeClr val="lt1"/>
                </a:solidFill>
                <a:latin typeface="Roboto"/>
                <a:ea typeface="Roboto"/>
                <a:cs typeface="Roboto"/>
                <a:sym typeface="Roboto"/>
              </a:endParaRPr>
            </a:p>
          </p:txBody>
        </p:sp>
        <p:sp>
          <p:nvSpPr>
            <p:cNvPr id="316" name="Google Shape;316;p47"/>
            <p:cNvSpPr txBox="1"/>
            <p:nvPr/>
          </p:nvSpPr>
          <p:spPr>
            <a:xfrm>
              <a:off x="408448" y="2057144"/>
              <a:ext cx="2730000" cy="2111100"/>
            </a:xfrm>
            <a:prstGeom prst="rect">
              <a:avLst/>
            </a:prstGeom>
            <a:noFill/>
            <a:ln cap="flat" cmpd="sng" w="9525">
              <a:solidFill>
                <a:srgbClr val="000000"/>
              </a:solidFill>
              <a:prstDash val="solid"/>
              <a:round/>
              <a:headEnd len="sm" w="sm" type="none"/>
              <a:tailEnd len="sm" w="sm" type="none"/>
            </a:ln>
          </p:spPr>
          <p:txBody>
            <a:bodyPr anchorCtr="0" anchor="t" bIns="90650" lIns="90650" spcFirstLastPara="1" rIns="90650" wrap="square" tIns="90650">
              <a:noAutofit/>
            </a:bodyPr>
            <a:lstStyle/>
            <a:p>
              <a:pPr indent="-295954" lvl="0" marL="453377" rtl="0" algn="l">
                <a:lnSpc>
                  <a:spcPct val="115000"/>
                </a:lnSpc>
                <a:spcBef>
                  <a:spcPts val="0"/>
                </a:spcBef>
                <a:spcAft>
                  <a:spcPts val="0"/>
                </a:spcAft>
                <a:buSzPts val="1091"/>
                <a:buFont typeface="Roboto"/>
                <a:buChar char="●"/>
              </a:pPr>
              <a:r>
                <a:rPr lang="en" sz="1090">
                  <a:latin typeface="Roboto"/>
                  <a:ea typeface="Roboto"/>
                  <a:cs typeface="Roboto"/>
                  <a:sym typeface="Roboto"/>
                </a:rPr>
                <a:t>ToT query artifacts are the primary performance bottleneck.</a:t>
              </a:r>
              <a:endParaRPr sz="1090">
                <a:latin typeface="Roboto"/>
                <a:ea typeface="Roboto"/>
                <a:cs typeface="Roboto"/>
                <a:sym typeface="Roboto"/>
              </a:endParaRPr>
            </a:p>
            <a:p>
              <a:pPr indent="0" lvl="0" marL="453377" rtl="0" algn="l">
                <a:lnSpc>
                  <a:spcPct val="115000"/>
                </a:lnSpc>
                <a:spcBef>
                  <a:spcPts val="0"/>
                </a:spcBef>
                <a:spcAft>
                  <a:spcPts val="0"/>
                </a:spcAft>
                <a:buNone/>
              </a:pPr>
              <a:r>
                <a:t/>
              </a:r>
              <a:endParaRPr sz="1090">
                <a:latin typeface="Roboto"/>
                <a:ea typeface="Roboto"/>
                <a:cs typeface="Roboto"/>
                <a:sym typeface="Roboto"/>
              </a:endParaRPr>
            </a:p>
            <a:p>
              <a:pPr indent="-295954" lvl="0" marL="453377" rtl="0" algn="l">
                <a:lnSpc>
                  <a:spcPct val="115000"/>
                </a:lnSpc>
                <a:spcBef>
                  <a:spcPts val="0"/>
                </a:spcBef>
                <a:spcAft>
                  <a:spcPts val="0"/>
                </a:spcAft>
                <a:buSzPts val="1091"/>
                <a:buFont typeface="Roboto"/>
                <a:buChar char="●"/>
              </a:pPr>
              <a:r>
                <a:rPr lang="en" sz="1090">
                  <a:latin typeface="Roboto"/>
                  <a:ea typeface="Roboto"/>
                  <a:cs typeface="Roboto"/>
                  <a:sym typeface="Roboto"/>
                </a:rPr>
                <a:t>LLM-based query rewriting is not an optional preprocessing step, it is the foundational requirement for turning a vague recollection into a machine-readable intent.</a:t>
              </a:r>
              <a:endParaRPr sz="1090">
                <a:latin typeface="Roboto"/>
                <a:ea typeface="Roboto"/>
                <a:cs typeface="Roboto"/>
                <a:sym typeface="Roboto"/>
              </a:endParaRPr>
            </a:p>
          </p:txBody>
        </p:sp>
      </p:grpSp>
      <p:grpSp>
        <p:nvGrpSpPr>
          <p:cNvPr id="317" name="Google Shape;317;p47"/>
          <p:cNvGrpSpPr/>
          <p:nvPr/>
        </p:nvGrpSpPr>
        <p:grpSpPr>
          <a:xfrm>
            <a:off x="2988223" y="1205952"/>
            <a:ext cx="3277932" cy="2953431"/>
            <a:chOff x="2944204" y="1189775"/>
            <a:chExt cx="3305700" cy="2978450"/>
          </a:xfrm>
        </p:grpSpPr>
        <p:sp>
          <p:nvSpPr>
            <p:cNvPr id="318" name="Google Shape;318;p47"/>
            <p:cNvSpPr/>
            <p:nvPr/>
          </p:nvSpPr>
          <p:spPr>
            <a:xfrm>
              <a:off x="2944204" y="1189775"/>
              <a:ext cx="3305700" cy="669000"/>
            </a:xfrm>
            <a:prstGeom prst="chevron">
              <a:avLst>
                <a:gd fmla="val 50000" name="adj"/>
              </a:avLst>
            </a:prstGeom>
            <a:solidFill>
              <a:schemeClr val="dk1"/>
            </a:solidFill>
            <a:ln>
              <a:noFill/>
            </a:ln>
          </p:spPr>
          <p:txBody>
            <a:bodyPr anchorCtr="0" anchor="ctr" bIns="90650" lIns="90650" spcFirstLastPara="1" rIns="90650" wrap="square" tIns="90650">
              <a:noAutofit/>
            </a:bodyPr>
            <a:lstStyle/>
            <a:p>
              <a:pPr indent="0" lvl="0" marL="0" rtl="0" algn="ctr">
                <a:spcBef>
                  <a:spcPts val="0"/>
                </a:spcBef>
                <a:spcAft>
                  <a:spcPts val="0"/>
                </a:spcAft>
                <a:buNone/>
              </a:pPr>
              <a:r>
                <a:rPr b="1" lang="en" sz="1388">
                  <a:solidFill>
                    <a:schemeClr val="lt1"/>
                  </a:solidFill>
                  <a:latin typeface="Roboto"/>
                  <a:ea typeface="Roboto"/>
                  <a:cs typeface="Roboto"/>
                  <a:sym typeface="Roboto"/>
                </a:rPr>
                <a:t>Cascade From Recall to Precision</a:t>
              </a:r>
              <a:endParaRPr b="1" sz="1388">
                <a:solidFill>
                  <a:schemeClr val="lt1"/>
                </a:solidFill>
                <a:latin typeface="Roboto"/>
                <a:ea typeface="Roboto"/>
                <a:cs typeface="Roboto"/>
                <a:sym typeface="Roboto"/>
              </a:endParaRPr>
            </a:p>
          </p:txBody>
        </p:sp>
        <p:sp>
          <p:nvSpPr>
            <p:cNvPr id="319" name="Google Shape;319;p47"/>
            <p:cNvSpPr txBox="1"/>
            <p:nvPr/>
          </p:nvSpPr>
          <p:spPr>
            <a:xfrm>
              <a:off x="3251400" y="2057125"/>
              <a:ext cx="2691300" cy="2111100"/>
            </a:xfrm>
            <a:prstGeom prst="rect">
              <a:avLst/>
            </a:prstGeom>
            <a:noFill/>
            <a:ln cap="flat" cmpd="sng" w="9525">
              <a:solidFill>
                <a:srgbClr val="000000"/>
              </a:solidFill>
              <a:prstDash val="solid"/>
              <a:round/>
              <a:headEnd len="sm" w="sm" type="none"/>
              <a:tailEnd len="sm" w="sm" type="none"/>
            </a:ln>
          </p:spPr>
          <p:txBody>
            <a:bodyPr anchorCtr="0" anchor="t" bIns="90650" lIns="90650" spcFirstLastPara="1" rIns="90650" wrap="square" tIns="90650">
              <a:noAutofit/>
            </a:bodyPr>
            <a:lstStyle/>
            <a:p>
              <a:pPr indent="-295954" lvl="0" marL="453377" rtl="0" algn="l">
                <a:lnSpc>
                  <a:spcPct val="115000"/>
                </a:lnSpc>
                <a:spcBef>
                  <a:spcPts val="0"/>
                </a:spcBef>
                <a:spcAft>
                  <a:spcPts val="0"/>
                </a:spcAft>
                <a:buSzPts val="1091"/>
                <a:buFont typeface="Roboto"/>
                <a:buChar char="●"/>
              </a:pPr>
              <a:r>
                <a:rPr lang="en" sz="1090">
                  <a:latin typeface="Roboto"/>
                  <a:ea typeface="Roboto"/>
                  <a:cs typeface="Roboto"/>
                  <a:sym typeface="Roboto"/>
                </a:rPr>
                <a:t>A multi-stage architecture is essential.</a:t>
              </a:r>
              <a:endParaRPr sz="1090">
                <a:latin typeface="Roboto"/>
                <a:ea typeface="Roboto"/>
                <a:cs typeface="Roboto"/>
                <a:sym typeface="Roboto"/>
              </a:endParaRPr>
            </a:p>
            <a:p>
              <a:pPr indent="0" lvl="0" marL="453377" rtl="0" algn="l">
                <a:lnSpc>
                  <a:spcPct val="115000"/>
                </a:lnSpc>
                <a:spcBef>
                  <a:spcPts val="0"/>
                </a:spcBef>
                <a:spcAft>
                  <a:spcPts val="0"/>
                </a:spcAft>
                <a:buNone/>
              </a:pPr>
              <a:r>
                <a:t/>
              </a:r>
              <a:endParaRPr sz="1090">
                <a:latin typeface="Roboto"/>
                <a:ea typeface="Roboto"/>
                <a:cs typeface="Roboto"/>
                <a:sym typeface="Roboto"/>
              </a:endParaRPr>
            </a:p>
            <a:p>
              <a:pPr indent="-295954" lvl="0" marL="453377" rtl="0" algn="l">
                <a:lnSpc>
                  <a:spcPct val="115000"/>
                </a:lnSpc>
                <a:spcBef>
                  <a:spcPts val="0"/>
                </a:spcBef>
                <a:spcAft>
                  <a:spcPts val="0"/>
                </a:spcAft>
                <a:buSzPts val="1091"/>
                <a:buFont typeface="Roboto"/>
                <a:buChar char="●"/>
              </a:pPr>
              <a:r>
                <a:rPr lang="en" sz="1090">
                  <a:latin typeface="Roboto"/>
                  <a:ea typeface="Roboto"/>
                  <a:cs typeface="Roboto"/>
                  <a:sym typeface="Roboto"/>
                </a:rPr>
                <a:t>Use a high-recall foundation to cast a wide net, then apply computationally expensive, high-precision models like Cross-Encoders and LLMs to refine a much smaller, high-value candidate set.</a:t>
              </a:r>
              <a:endParaRPr sz="1090">
                <a:latin typeface="Roboto"/>
                <a:ea typeface="Roboto"/>
                <a:cs typeface="Roboto"/>
                <a:sym typeface="Roboto"/>
              </a:endParaRPr>
            </a:p>
          </p:txBody>
        </p:sp>
      </p:grpSp>
      <p:sp>
        <p:nvSpPr>
          <p:cNvPr id="320" name="Google Shape;320;p47"/>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2640"/>
              <a:t>To Conclude:</a:t>
            </a:r>
            <a:endParaRPr sz="264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8"/>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